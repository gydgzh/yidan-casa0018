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Lst>
  <p:notesMasterIdLst>
    <p:notesMasterId r:id="rId1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notesMaster" Target="notesMasters/notesMaster1.xml"/><Relationship Id="rId12" Type="http://schemas.openxmlformats.org/officeDocument/2006/relationships/presProps" Target="presProps.xml"/><Relationship Id="rId13" Type="http://schemas.openxmlformats.org/officeDocument/2006/relationships/viewProps" Target="viewProps.xml"/><Relationship Id="rId14" Type="http://schemas.openxmlformats.org/officeDocument/2006/relationships/theme" Target="theme/theme1.xml"/><Relationship Id="rId1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COVER · 0:00 – 0:15  (~15 s)
Hi, I'm Yidan. This is Veil — a privacy-first multi-user avatar system that turns your camera frame into an on-device avatar, driven by a 32-thousand-parameter 1-D CNN that classifies eight facial actions over 52-dimensional ARKit blendshapes. Everything you'll see runs end-to-end on the user's own edge device — no face frames ever leave the phone.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PROBLEM · 0:15 – 0:40  (~25 s)
Today's video calls force a trade: you expose your room and face just to share a non-verbal signal. Cloud "private avatar" services like Persona or ZEGO still send pixels — the trust just shifts to the provider. Veil takes the opposite route. The camera frame is reduced on-device to 52 ARKit blendshape numbers; only those get sent. About 5.6 KB/s — three orders of magnitude less than 720 p Zoom — and no pixel ever leaves the phone. Research question: can a browser-resident pipeline do all that under sub-6 KB/s?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ARCHITECTURE · 0:40 – 1:10  (~30 s)
Three layers, but the emphasis is where the work happens. Layer 1 is just a Node relay — opaque packets only. Everything important — Layer 2 the Emotion Engine and Layer 3 the avatar render — runs in the user's own browser on their edge device. The right column is the per-frame flow: camera, MediaPipe to 52 blendshapes in 22 ms, the small 1-D CNN in 2.8 ms, then vote-and-cooldown gating, then a 233-byte packet at 24 Hz. The peer renders that into a VRM avatar. Camera frames never leave the device.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DATA + MODEL · 1:10 – 1:35  (~25 s)
The dataset is 600 synthetic sessions across eight target actions, windowed at 30 frames. The classifier is deliberately tiny: three Conv-BN blocks, global average pool, softmax — 32 168 parameters total. On the right is the training curve: validation accuracy climbs from 0.69 to 0.983, ReduceLROnPlateau halves the learning rate twice, EarlyStopping cuts it off at epoch 28. On the held-out 315-window test set: 99.05 % accuracy, 0.99 macro-F1.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DEMO 1 · 1:35 – 2:10  (~35 s)
Now the running app. I want to stress one thing: this clip is filmed off the phone screen — Safari on iPhone — not off my laptop. The laptop is just a peer that joined the same room. On the phone you see the homepage — no login, just a screen name and a room code. I pick an avatar — six built-ins plus a custom slot — and tap the button. Then the avatar tracks my face frame-by-frame. The top-right pill shows live bandwidth around 3–4 KB/s; the bottom-left lock badge says "On-device · raw camera never leaves this phone." That guarantee is enforced by code: the only thing leaving the phone is a 233-byte vector.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DEMO 2 · 2:10 – 2:35  (~25 s)
Same architecture, second clip — split screen. Left is my actual face from the camera; right is the avatar in the peer's browser, driven only by the 52-d blendshape packet. Smile, surprise, tongue-out — every frame is mirrored within about 33 ms median latency. Between those two windows, only 233 bytes per frame at 24 Hz cross the network. 5.6 kilobytes per second of pure semantics. No pixel ever leaves the phone.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RESULTS · 2:35 – 3:00  (~25 s)
Three numbers anchor this. 99.05 % test accuracy, 0.9903 macro-F1 — beats the 0.95 target. Median end-to-end latency 33.5 ms — inside the 30 fps budget. Bandwidth 5.6 KB/s — about 0.4 % of a 720 p Zoom stream. The confusion matrix shows the three misses sit in low-energy columns — a smile mistaken as neutral is much less disruptive than a tongue-out false alarm. The latency stack shows the design point: the 1-D CNN itself only spends 2.8 ms; the rest is MediaPipe — the model is a bystander in the pipeline.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REFLECTION · short
Three honest caveats: the 99 % is split-optimistic — windows, not actors; ARKit's 52-d space is for visemes, not affect; and the 233-byte packet is not the lower bound — PCA-16 plus delta encoding could compress it about 4×. Those three become the next steps in order.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CONCLUSION · short
That's Veil in three minutes. A full deep-learning pipeline running entirely on the user's own edge device — sensing, inference, action — replacing a cloud video stream while sending three orders of magnitude less data. Thank you.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slideLayout" Target="../slideLayouts/slideLayout1.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E1A2B"/>
        </a:solidFill>
      </p:bgPr>
    </p:bg>
    <p:spTree>
      <p:nvGrpSpPr>
        <p:cNvPr id="1" name=""/>
        <p:cNvGrpSpPr/>
        <p:nvPr/>
      </p:nvGrpSpPr>
      <p:grpSpPr>
        <a:xfrm>
          <a:off x="0" y="0"/>
          <a:ext cx="0" cy="0"/>
          <a:chOff x="0" y="0"/>
          <a:chExt cx="0" cy="0"/>
        </a:xfrm>
      </p:grpSpPr>
      <p:sp>
        <p:nvSpPr>
          <p:cNvPr id="2" name="Shape 0"/>
          <p:cNvSpPr/>
          <p:nvPr/>
        </p:nvSpPr>
        <p:spPr>
          <a:xfrm>
            <a:off x="6949440" y="0"/>
            <a:ext cx="5242255" cy="6858000"/>
          </a:xfrm>
          <a:prstGeom prst="rect">
            <a:avLst/>
          </a:prstGeom>
          <a:solidFill>
            <a:srgbClr val="065A82"/>
          </a:solidFill>
          <a:ln/>
        </p:spPr>
      </p:sp>
      <p:sp>
        <p:nvSpPr>
          <p:cNvPr id="3" name="Shape 1"/>
          <p:cNvSpPr/>
          <p:nvPr/>
        </p:nvSpPr>
        <p:spPr>
          <a:xfrm>
            <a:off x="6949440" y="0"/>
            <a:ext cx="54864" cy="6858000"/>
          </a:xfrm>
          <a:prstGeom prst="rect">
            <a:avLst/>
          </a:prstGeom>
          <a:solidFill>
            <a:srgbClr val="00C2A8"/>
          </a:solidFill>
          <a:ln/>
        </p:spPr>
      </p:sp>
      <p:sp>
        <p:nvSpPr>
          <p:cNvPr id="4" name="Text 2"/>
          <p:cNvSpPr/>
          <p:nvPr/>
        </p:nvSpPr>
        <p:spPr>
          <a:xfrm>
            <a:off x="548640" y="411480"/>
            <a:ext cx="7315200" cy="365760"/>
          </a:xfrm>
          <a:prstGeom prst="rect">
            <a:avLst/>
          </a:prstGeom>
          <a:noFill/>
          <a:ln/>
        </p:spPr>
        <p:txBody>
          <a:bodyPr wrap="square" rtlCol="0" anchor="ctr"/>
          <a:lstStyle/>
          <a:p>
            <a:pPr indent="0" marL="0">
              <a:buNone/>
            </a:pPr>
            <a:r>
              <a:rPr lang="en-US" sz="1200" dirty="0">
                <a:solidFill>
                  <a:srgbClr val="CADCFC"/>
                </a:solidFill>
                <a:latin typeface="Calibri" pitchFamily="34" charset="0"/>
                <a:ea typeface="Calibri" pitchFamily="34" charset="-122"/>
                <a:cs typeface="Calibri" pitchFamily="34" charset="-120"/>
              </a:rPr>
              <a:t>CASA0018  ·  Deep Learning for Sensor Networks  ·  2025/26</a:t>
            </a:r>
            <a:endParaRPr lang="en-US" sz="1200" dirty="0"/>
          </a:p>
        </p:txBody>
      </p:sp>
      <p:sp>
        <p:nvSpPr>
          <p:cNvPr id="5" name="Text 3"/>
          <p:cNvSpPr/>
          <p:nvPr/>
        </p:nvSpPr>
        <p:spPr>
          <a:xfrm>
            <a:off x="548640" y="960120"/>
            <a:ext cx="6400800" cy="1554480"/>
          </a:xfrm>
          <a:prstGeom prst="rect">
            <a:avLst/>
          </a:prstGeom>
          <a:noFill/>
          <a:ln/>
        </p:spPr>
        <p:txBody>
          <a:bodyPr wrap="square" rtlCol="0" anchor="ctr"/>
          <a:lstStyle/>
          <a:p>
            <a:pPr indent="0" marL="0">
              <a:buNone/>
            </a:pPr>
            <a:r>
              <a:rPr lang="en-US" sz="9600" b="1" dirty="0">
                <a:solidFill>
                  <a:srgbClr val="FFFFFF"/>
                </a:solidFill>
                <a:latin typeface="Georgia" pitchFamily="34" charset="0"/>
                <a:ea typeface="Georgia" pitchFamily="34" charset="-122"/>
                <a:cs typeface="Georgia" pitchFamily="34" charset="-120"/>
              </a:rPr>
              <a:t>Veil</a:t>
            </a:r>
            <a:endParaRPr lang="en-US" sz="9600" dirty="0"/>
          </a:p>
        </p:txBody>
      </p:sp>
      <p:sp>
        <p:nvSpPr>
          <p:cNvPr id="6" name="Text 4"/>
          <p:cNvSpPr/>
          <p:nvPr/>
        </p:nvSpPr>
        <p:spPr>
          <a:xfrm>
            <a:off x="548640" y="2697480"/>
            <a:ext cx="6400800" cy="1645920"/>
          </a:xfrm>
          <a:prstGeom prst="rect">
            <a:avLst/>
          </a:prstGeom>
          <a:noFill/>
          <a:ln/>
        </p:spPr>
        <p:txBody>
          <a:bodyPr wrap="square" rtlCol="0" anchor="ctr"/>
          <a:lstStyle/>
          <a:p>
            <a:pPr indent="0" marL="0">
              <a:lnSpc>
                <a:spcPct val="125000"/>
              </a:lnSpc>
              <a:buNone/>
            </a:pPr>
            <a:r>
              <a:rPr lang="en-US" sz="2100" dirty="0">
                <a:solidFill>
                  <a:srgbClr val="CADCFC"/>
                </a:solidFill>
                <a:latin typeface="Calibri" pitchFamily="34" charset="0"/>
                <a:ea typeface="Calibri" pitchFamily="34" charset="-122"/>
                <a:cs typeface="Calibri" pitchFamily="34" charset="-120"/>
              </a:rPr>
              <a:t>A privacy-first multi-user avatar system</a:t>
            </a:r>
            <a:endParaRPr lang="en-US" sz="2100" dirty="0"/>
          </a:p>
          <a:p>
            <a:pPr indent="0" marL="0">
              <a:lnSpc>
                <a:spcPct val="125000"/>
              </a:lnSpc>
              <a:buNone/>
            </a:pPr>
            <a:r>
              <a:rPr lang="en-US" sz="2100" dirty="0">
                <a:solidFill>
                  <a:srgbClr val="CADCFC"/>
                </a:solidFill>
                <a:latin typeface="Calibri" pitchFamily="34" charset="0"/>
                <a:ea typeface="Calibri" pitchFamily="34" charset="-122"/>
                <a:cs typeface="Calibri" pitchFamily="34" charset="-120"/>
              </a:rPr>
              <a:t>driven by on-device 1-D CNN action recognition</a:t>
            </a:r>
            <a:endParaRPr lang="en-US" sz="2100" dirty="0"/>
          </a:p>
          <a:p>
            <a:pPr indent="0" marL="0">
              <a:lnSpc>
                <a:spcPct val="125000"/>
              </a:lnSpc>
              <a:buNone/>
            </a:pPr>
            <a:r>
              <a:rPr lang="en-US" sz="2100" dirty="0">
                <a:solidFill>
                  <a:srgbClr val="CADCFC"/>
                </a:solidFill>
                <a:latin typeface="Calibri" pitchFamily="34" charset="0"/>
                <a:ea typeface="Calibri" pitchFamily="34" charset="-122"/>
                <a:cs typeface="Calibri" pitchFamily="34" charset="-120"/>
              </a:rPr>
              <a:t>over 52-d ARKit blendshapes</a:t>
            </a:r>
            <a:endParaRPr lang="en-US" sz="2100" dirty="0"/>
          </a:p>
        </p:txBody>
      </p:sp>
      <p:sp>
        <p:nvSpPr>
          <p:cNvPr id="7" name="Text 5"/>
          <p:cNvSpPr/>
          <p:nvPr/>
        </p:nvSpPr>
        <p:spPr>
          <a:xfrm>
            <a:off x="548640" y="4572000"/>
            <a:ext cx="1554480" cy="548640"/>
          </a:xfrm>
          <a:prstGeom prst="rect">
            <a:avLst/>
          </a:prstGeom>
          <a:noFill/>
          <a:ln/>
        </p:spPr>
        <p:txBody>
          <a:bodyPr wrap="square" rtlCol="0" anchor="ctr"/>
          <a:lstStyle/>
          <a:p>
            <a:pPr indent="0" marL="0">
              <a:buNone/>
            </a:pPr>
            <a:r>
              <a:rPr lang="en-US" sz="2200" b="1" dirty="0">
                <a:solidFill>
                  <a:srgbClr val="00C2A8"/>
                </a:solidFill>
                <a:latin typeface="Georgia" pitchFamily="34" charset="0"/>
                <a:ea typeface="Georgia" pitchFamily="34" charset="-122"/>
                <a:cs typeface="Georgia" pitchFamily="34" charset="-120"/>
              </a:rPr>
              <a:t>32 K</a:t>
            </a:r>
            <a:endParaRPr lang="en-US" sz="2200" dirty="0"/>
          </a:p>
        </p:txBody>
      </p:sp>
      <p:sp>
        <p:nvSpPr>
          <p:cNvPr id="8" name="Text 6"/>
          <p:cNvSpPr/>
          <p:nvPr/>
        </p:nvSpPr>
        <p:spPr>
          <a:xfrm>
            <a:off x="548640" y="5120640"/>
            <a:ext cx="1554480" cy="320040"/>
          </a:xfrm>
          <a:prstGeom prst="rect">
            <a:avLst/>
          </a:prstGeom>
          <a:noFill/>
          <a:ln/>
        </p:spPr>
        <p:txBody>
          <a:bodyPr wrap="square" rtlCol="0" anchor="ctr"/>
          <a:lstStyle/>
          <a:p>
            <a:pPr indent="0" marL="0">
              <a:buNone/>
            </a:pPr>
            <a:r>
              <a:rPr lang="en-US" sz="1100" dirty="0">
                <a:solidFill>
                  <a:srgbClr val="8FA3BF"/>
                </a:solidFill>
                <a:latin typeface="Calibri" pitchFamily="34" charset="0"/>
                <a:ea typeface="Calibri" pitchFamily="34" charset="-122"/>
                <a:cs typeface="Calibri" pitchFamily="34" charset="-120"/>
              </a:rPr>
              <a:t>CNN params</a:t>
            </a:r>
            <a:endParaRPr lang="en-US" sz="1100" dirty="0"/>
          </a:p>
        </p:txBody>
      </p:sp>
      <p:sp>
        <p:nvSpPr>
          <p:cNvPr id="9" name="Text 7"/>
          <p:cNvSpPr/>
          <p:nvPr/>
        </p:nvSpPr>
        <p:spPr>
          <a:xfrm>
            <a:off x="2148840" y="4572000"/>
            <a:ext cx="1554480" cy="548640"/>
          </a:xfrm>
          <a:prstGeom prst="rect">
            <a:avLst/>
          </a:prstGeom>
          <a:noFill/>
          <a:ln/>
        </p:spPr>
        <p:txBody>
          <a:bodyPr wrap="square" rtlCol="0" anchor="ctr"/>
          <a:lstStyle/>
          <a:p>
            <a:pPr indent="0" marL="0">
              <a:buNone/>
            </a:pPr>
            <a:r>
              <a:rPr lang="en-US" sz="2200" b="1" dirty="0">
                <a:solidFill>
                  <a:srgbClr val="00C2A8"/>
                </a:solidFill>
                <a:latin typeface="Georgia" pitchFamily="34" charset="0"/>
                <a:ea typeface="Georgia" pitchFamily="34" charset="-122"/>
                <a:cs typeface="Georgia" pitchFamily="34" charset="-120"/>
              </a:rPr>
              <a:t>99.0 %</a:t>
            </a:r>
            <a:endParaRPr lang="en-US" sz="2200" dirty="0"/>
          </a:p>
        </p:txBody>
      </p:sp>
      <p:sp>
        <p:nvSpPr>
          <p:cNvPr id="10" name="Text 8"/>
          <p:cNvSpPr/>
          <p:nvPr/>
        </p:nvSpPr>
        <p:spPr>
          <a:xfrm>
            <a:off x="2148840" y="5120640"/>
            <a:ext cx="1554480" cy="320040"/>
          </a:xfrm>
          <a:prstGeom prst="rect">
            <a:avLst/>
          </a:prstGeom>
          <a:noFill/>
          <a:ln/>
        </p:spPr>
        <p:txBody>
          <a:bodyPr wrap="square" rtlCol="0" anchor="ctr"/>
          <a:lstStyle/>
          <a:p>
            <a:pPr indent="0" marL="0">
              <a:buNone/>
            </a:pPr>
            <a:r>
              <a:rPr lang="en-US" sz="1100" dirty="0">
                <a:solidFill>
                  <a:srgbClr val="8FA3BF"/>
                </a:solidFill>
                <a:latin typeface="Calibri" pitchFamily="34" charset="0"/>
                <a:ea typeface="Calibri" pitchFamily="34" charset="-122"/>
                <a:cs typeface="Calibri" pitchFamily="34" charset="-120"/>
              </a:rPr>
              <a:t>macro-F1</a:t>
            </a:r>
            <a:endParaRPr lang="en-US" sz="1100" dirty="0"/>
          </a:p>
        </p:txBody>
      </p:sp>
      <p:sp>
        <p:nvSpPr>
          <p:cNvPr id="11" name="Text 9"/>
          <p:cNvSpPr/>
          <p:nvPr/>
        </p:nvSpPr>
        <p:spPr>
          <a:xfrm>
            <a:off x="3749040" y="4572000"/>
            <a:ext cx="1554480" cy="548640"/>
          </a:xfrm>
          <a:prstGeom prst="rect">
            <a:avLst/>
          </a:prstGeom>
          <a:noFill/>
          <a:ln/>
        </p:spPr>
        <p:txBody>
          <a:bodyPr wrap="square" rtlCol="0" anchor="ctr"/>
          <a:lstStyle/>
          <a:p>
            <a:pPr indent="0" marL="0">
              <a:buNone/>
            </a:pPr>
            <a:r>
              <a:rPr lang="en-US" sz="2200" b="1" dirty="0">
                <a:solidFill>
                  <a:srgbClr val="00C2A8"/>
                </a:solidFill>
                <a:latin typeface="Georgia" pitchFamily="34" charset="0"/>
                <a:ea typeface="Georgia" pitchFamily="34" charset="-122"/>
                <a:cs typeface="Georgia" pitchFamily="34" charset="-120"/>
              </a:rPr>
              <a:t>33 ms</a:t>
            </a:r>
            <a:endParaRPr lang="en-US" sz="2200" dirty="0"/>
          </a:p>
        </p:txBody>
      </p:sp>
      <p:sp>
        <p:nvSpPr>
          <p:cNvPr id="12" name="Text 10"/>
          <p:cNvSpPr/>
          <p:nvPr/>
        </p:nvSpPr>
        <p:spPr>
          <a:xfrm>
            <a:off x="3749040" y="5120640"/>
            <a:ext cx="1554480" cy="320040"/>
          </a:xfrm>
          <a:prstGeom prst="rect">
            <a:avLst/>
          </a:prstGeom>
          <a:noFill/>
          <a:ln/>
        </p:spPr>
        <p:txBody>
          <a:bodyPr wrap="square" rtlCol="0" anchor="ctr"/>
          <a:lstStyle/>
          <a:p>
            <a:pPr indent="0" marL="0">
              <a:buNone/>
            </a:pPr>
            <a:r>
              <a:rPr lang="en-US" sz="1100" dirty="0">
                <a:solidFill>
                  <a:srgbClr val="8FA3BF"/>
                </a:solidFill>
                <a:latin typeface="Calibri" pitchFamily="34" charset="0"/>
                <a:ea typeface="Calibri" pitchFamily="34" charset="-122"/>
                <a:cs typeface="Calibri" pitchFamily="34" charset="-120"/>
              </a:rPr>
              <a:t>P50 latency</a:t>
            </a:r>
            <a:endParaRPr lang="en-US" sz="1100" dirty="0"/>
          </a:p>
        </p:txBody>
      </p:sp>
      <p:sp>
        <p:nvSpPr>
          <p:cNvPr id="13" name="Text 11"/>
          <p:cNvSpPr/>
          <p:nvPr/>
        </p:nvSpPr>
        <p:spPr>
          <a:xfrm>
            <a:off x="5349240" y="4572000"/>
            <a:ext cx="1554480" cy="548640"/>
          </a:xfrm>
          <a:prstGeom prst="rect">
            <a:avLst/>
          </a:prstGeom>
          <a:noFill/>
          <a:ln/>
        </p:spPr>
        <p:txBody>
          <a:bodyPr wrap="square" rtlCol="0" anchor="ctr"/>
          <a:lstStyle/>
          <a:p>
            <a:pPr indent="0" marL="0">
              <a:buNone/>
            </a:pPr>
            <a:r>
              <a:rPr lang="en-US" sz="2200" b="1" dirty="0">
                <a:solidFill>
                  <a:srgbClr val="00C2A8"/>
                </a:solidFill>
                <a:latin typeface="Georgia" pitchFamily="34" charset="0"/>
                <a:ea typeface="Georgia" pitchFamily="34" charset="-122"/>
                <a:cs typeface="Georgia" pitchFamily="34" charset="-120"/>
              </a:rPr>
              <a:t>5.6 KB/s</a:t>
            </a:r>
            <a:endParaRPr lang="en-US" sz="2200" dirty="0"/>
          </a:p>
        </p:txBody>
      </p:sp>
      <p:sp>
        <p:nvSpPr>
          <p:cNvPr id="14" name="Text 12"/>
          <p:cNvSpPr/>
          <p:nvPr/>
        </p:nvSpPr>
        <p:spPr>
          <a:xfrm>
            <a:off x="5349240" y="5120640"/>
            <a:ext cx="1554480" cy="320040"/>
          </a:xfrm>
          <a:prstGeom prst="rect">
            <a:avLst/>
          </a:prstGeom>
          <a:noFill/>
          <a:ln/>
        </p:spPr>
        <p:txBody>
          <a:bodyPr wrap="square" rtlCol="0" anchor="ctr"/>
          <a:lstStyle/>
          <a:p>
            <a:pPr indent="0" marL="0">
              <a:buNone/>
            </a:pPr>
            <a:r>
              <a:rPr lang="en-US" sz="1100" dirty="0">
                <a:solidFill>
                  <a:srgbClr val="8FA3BF"/>
                </a:solidFill>
                <a:latin typeface="Calibri" pitchFamily="34" charset="0"/>
                <a:ea typeface="Calibri" pitchFamily="34" charset="-122"/>
                <a:cs typeface="Calibri" pitchFamily="34" charset="-120"/>
              </a:rPr>
              <a:t>bandwidth</a:t>
            </a:r>
            <a:endParaRPr lang="en-US" sz="1100" dirty="0"/>
          </a:p>
        </p:txBody>
      </p:sp>
      <p:sp>
        <p:nvSpPr>
          <p:cNvPr id="15" name="Text 13"/>
          <p:cNvSpPr/>
          <p:nvPr/>
        </p:nvSpPr>
        <p:spPr>
          <a:xfrm>
            <a:off x="7269480" y="1097280"/>
            <a:ext cx="4754880" cy="411480"/>
          </a:xfrm>
          <a:prstGeom prst="rect">
            <a:avLst/>
          </a:prstGeom>
          <a:noFill/>
          <a:ln/>
        </p:spPr>
        <p:txBody>
          <a:bodyPr wrap="square" rtlCol="0" anchor="ctr"/>
          <a:lstStyle/>
          <a:p>
            <a:pPr indent="0" marL="0">
              <a:buNone/>
            </a:pPr>
            <a:r>
              <a:rPr lang="en-US" sz="1400" dirty="0">
                <a:solidFill>
                  <a:srgbClr val="CADCFC"/>
                </a:solidFill>
                <a:latin typeface="Calibri" pitchFamily="34" charset="0"/>
                <a:ea typeface="Calibri" pitchFamily="34" charset="-122"/>
                <a:cs typeface="Calibri" pitchFamily="34" charset="-120"/>
              </a:rPr>
              <a:t>A 3-minute walkthrough</a:t>
            </a:r>
            <a:endParaRPr lang="en-US" sz="1400" dirty="0"/>
          </a:p>
        </p:txBody>
      </p:sp>
      <p:sp>
        <p:nvSpPr>
          <p:cNvPr id="16" name="Text 14"/>
          <p:cNvSpPr/>
          <p:nvPr/>
        </p:nvSpPr>
        <p:spPr>
          <a:xfrm>
            <a:off x="7269480" y="1600200"/>
            <a:ext cx="4754880" cy="2194560"/>
          </a:xfrm>
          <a:prstGeom prst="rect">
            <a:avLst/>
          </a:prstGeom>
          <a:noFill/>
          <a:ln/>
        </p:spPr>
        <p:txBody>
          <a:bodyPr wrap="square" rtlCol="0" anchor="ctr"/>
          <a:lstStyle/>
          <a:p>
            <a:pPr indent="0" marL="0">
              <a:lnSpc>
                <a:spcPct val="105000"/>
              </a:lnSpc>
              <a:buNone/>
            </a:pPr>
            <a:r>
              <a:rPr lang="en-US" sz="4400" i="1" dirty="0">
                <a:solidFill>
                  <a:srgbClr val="FFFFFF"/>
                </a:solidFill>
                <a:latin typeface="Georgia" pitchFamily="34" charset="0"/>
                <a:ea typeface="Georgia" pitchFamily="34" charset="-122"/>
                <a:cs typeface="Georgia" pitchFamily="34" charset="-120"/>
              </a:rPr>
              <a:t>Be together,</a:t>
            </a:r>
            <a:endParaRPr lang="en-US" sz="4400" dirty="0"/>
          </a:p>
          <a:p>
            <a:pPr indent="0" marL="0">
              <a:lnSpc>
                <a:spcPct val="105000"/>
              </a:lnSpc>
              <a:buNone/>
            </a:pPr>
            <a:r>
              <a:rPr lang="en-US" sz="4400" i="1" dirty="0">
                <a:solidFill>
                  <a:srgbClr val="FFFFFF"/>
                </a:solidFill>
                <a:latin typeface="Georgia" pitchFamily="34" charset="0"/>
                <a:ea typeface="Georgia" pitchFamily="34" charset="-122"/>
                <a:cs typeface="Georgia" pitchFamily="34" charset="-120"/>
              </a:rPr>
              <a:t>stay private.</a:t>
            </a:r>
            <a:endParaRPr lang="en-US" sz="4400" dirty="0"/>
          </a:p>
        </p:txBody>
      </p:sp>
      <p:sp>
        <p:nvSpPr>
          <p:cNvPr id="17" name="Text 15"/>
          <p:cNvSpPr/>
          <p:nvPr/>
        </p:nvSpPr>
        <p:spPr>
          <a:xfrm>
            <a:off x="7269480" y="4160520"/>
            <a:ext cx="4754880" cy="2286000"/>
          </a:xfrm>
          <a:prstGeom prst="rect">
            <a:avLst/>
          </a:prstGeom>
          <a:noFill/>
          <a:ln/>
        </p:spPr>
        <p:txBody>
          <a:bodyPr wrap="square" rtlCol="0" anchor="ctr"/>
          <a:lstStyle/>
          <a:p>
            <a:pPr indent="0" marL="0">
              <a:lnSpc>
                <a:spcPct val="140000"/>
              </a:lnSpc>
              <a:buNone/>
            </a:pPr>
            <a:r>
              <a:rPr lang="en-US" sz="1400" b="1" dirty="0">
                <a:solidFill>
                  <a:srgbClr val="CADCFC"/>
                </a:solidFill>
                <a:latin typeface="Calibri" pitchFamily="34" charset="0"/>
                <a:ea typeface="Calibri" pitchFamily="34" charset="-122"/>
                <a:cs typeface="Calibri" pitchFamily="34" charset="-120"/>
              </a:rPr>
              <a:t>Author    </a:t>
            </a:r>
            <a:pPr indent="0" marL="0">
              <a:lnSpc>
                <a:spcPct val="140000"/>
              </a:lnSpc>
              <a:buNone/>
            </a:pPr>
            <a:r>
              <a:rPr lang="en-US" sz="1400" dirty="0">
                <a:solidFill>
                  <a:srgbClr val="FFFFFF"/>
                </a:solidFill>
                <a:latin typeface="Calibri" pitchFamily="34" charset="0"/>
                <a:ea typeface="Calibri" pitchFamily="34" charset="-122"/>
                <a:cs typeface="Calibri" pitchFamily="34" charset="-120"/>
              </a:rPr>
              <a:t>Yidan Gao
</a:t>
            </a:r>
            <a:pPr indent="0" marL="0">
              <a:lnSpc>
                <a:spcPct val="140000"/>
              </a:lnSpc>
              <a:buNone/>
            </a:pPr>
            <a:r>
              <a:rPr lang="en-US" sz="1400" b="1" dirty="0">
                <a:solidFill>
                  <a:srgbClr val="CADCFC"/>
                </a:solidFill>
                <a:latin typeface="Calibri" pitchFamily="34" charset="0"/>
                <a:ea typeface="Calibri" pitchFamily="34" charset="-122"/>
                <a:cs typeface="Calibri" pitchFamily="34" charset="-120"/>
              </a:rPr>
              <a:t>Build      </a:t>
            </a:r>
            <a:pPr indent="0" marL="0">
              <a:lnSpc>
                <a:spcPct val="140000"/>
              </a:lnSpc>
              <a:buNone/>
            </a:pPr>
            <a:r>
              <a:rPr lang="en-US" sz="1400" dirty="0">
                <a:solidFill>
                  <a:srgbClr val="FFFFFF"/>
                </a:solidFill>
                <a:latin typeface="Calibri" pitchFamily="34" charset="0"/>
                <a:ea typeface="Calibri" pitchFamily="34" charset="-122"/>
                <a:cs typeface="Calibri" pitchFamily="34" charset="-120"/>
              </a:rPr>
              <a:t>v4.3-localfix
</a:t>
            </a:r>
            <a:pPr indent="0" marL="0">
              <a:lnSpc>
                <a:spcPct val="140000"/>
              </a:lnSpc>
              <a:buNone/>
            </a:pPr>
            <a:r>
              <a:rPr lang="en-US" sz="1400" b="1" dirty="0">
                <a:solidFill>
                  <a:srgbClr val="CADCFC"/>
                </a:solidFill>
                <a:latin typeface="Calibri" pitchFamily="34" charset="0"/>
                <a:ea typeface="Calibri" pitchFamily="34" charset="-122"/>
                <a:cs typeface="Calibri" pitchFamily="34" charset="-120"/>
              </a:rPr>
              <a:t>GitHub   </a:t>
            </a:r>
            <a:pPr indent="0" marL="0">
              <a:lnSpc>
                <a:spcPct val="140000"/>
              </a:lnSpc>
              <a:buNone/>
            </a:pPr>
            <a:r>
              <a:rPr lang="en-US" sz="1400" dirty="0">
                <a:solidFill>
                  <a:srgbClr val="FFFFFF"/>
                </a:solidFill>
                <a:latin typeface="Calibri" pitchFamily="34" charset="0"/>
                <a:ea typeface="Calibri" pitchFamily="34" charset="-122"/>
                <a:cs typeface="Calibri" pitchFamily="34" charset="-120"/>
              </a:rPr>
              <a:t>gydgzh/Yidan-casa0018
</a:t>
            </a:r>
            <a:pPr indent="0" marL="0">
              <a:lnSpc>
                <a:spcPct val="140000"/>
              </a:lnSpc>
              <a:buNone/>
            </a:pPr>
            <a:r>
              <a:rPr lang="en-US" sz="1400" dirty="0">
                <a:solidFill>
                  <a:srgbClr val="8FA3BF"/>
                </a:solidFill>
                <a:latin typeface="Calibri" pitchFamily="34" charset="0"/>
                <a:ea typeface="Calibri" pitchFamily="34" charset="-122"/>
                <a:cs typeface="Calibri" pitchFamily="34" charset="-120"/>
              </a:rPr>
              <a:t>UCL · Bartlett · CASA</a:t>
            </a:r>
            <a:endParaRPr lang="en-US" sz="1400" dirty="0"/>
          </a:p>
        </p:txBody>
      </p:sp>
      <p:sp>
        <p:nvSpPr>
          <p:cNvPr id="18" name="Text 16"/>
          <p:cNvSpPr/>
          <p:nvPr/>
        </p:nvSpPr>
        <p:spPr>
          <a:xfrm>
            <a:off x="10698480" y="6446520"/>
            <a:ext cx="1371600" cy="274320"/>
          </a:xfrm>
          <a:prstGeom prst="rect">
            <a:avLst/>
          </a:prstGeom>
          <a:noFill/>
          <a:ln/>
        </p:spPr>
        <p:txBody>
          <a:bodyPr wrap="square" rtlCol="0" anchor="ctr"/>
          <a:lstStyle/>
          <a:p>
            <a:pPr algn="r" indent="0" marL="0">
              <a:buNone/>
            </a:pPr>
            <a:r>
              <a:rPr lang="en-US" sz="1000" dirty="0">
                <a:solidFill>
                  <a:srgbClr val="8FA3BF"/>
                </a:solidFill>
                <a:latin typeface="Calibri" pitchFamily="34" charset="0"/>
                <a:ea typeface="Calibri" pitchFamily="34" charset="-122"/>
                <a:cs typeface="Calibri" pitchFamily="34" charset="-120"/>
              </a:rPr>
              <a:t>Slide 1 of 9</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AFC"/>
        </a:solidFill>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065A82"/>
          </a:solidFill>
          <a:ln/>
        </p:spPr>
      </p:sp>
      <p:sp>
        <p:nvSpPr>
          <p:cNvPr id="3" name="Text 1"/>
          <p:cNvSpPr/>
          <p:nvPr/>
        </p:nvSpPr>
        <p:spPr>
          <a:xfrm>
            <a:off x="411480" y="274320"/>
            <a:ext cx="10972800" cy="365760"/>
          </a:xfrm>
          <a:prstGeom prst="rect">
            <a:avLst/>
          </a:prstGeom>
          <a:noFill/>
          <a:ln/>
        </p:spPr>
        <p:txBody>
          <a:bodyPr wrap="square" rtlCol="0" anchor="ctr"/>
          <a:lstStyle/>
          <a:p>
            <a:pPr indent="0" marL="0">
              <a:buNone/>
            </a:pPr>
            <a:r>
              <a:rPr lang="en-US" sz="1300" b="1" dirty="0">
                <a:solidFill>
                  <a:srgbClr val="065A82"/>
                </a:solidFill>
                <a:latin typeface="Calibri" pitchFamily="34" charset="0"/>
                <a:ea typeface="Calibri" pitchFamily="34" charset="-122"/>
                <a:cs typeface="Calibri" pitchFamily="34" charset="-120"/>
              </a:rPr>
              <a:t>01 · PROBLEM</a:t>
            </a:r>
            <a:endParaRPr lang="en-US" sz="1300" dirty="0"/>
          </a:p>
        </p:txBody>
      </p:sp>
      <p:sp>
        <p:nvSpPr>
          <p:cNvPr id="4" name="Text 2"/>
          <p:cNvSpPr/>
          <p:nvPr/>
        </p:nvSpPr>
        <p:spPr>
          <a:xfrm>
            <a:off x="548640" y="777240"/>
            <a:ext cx="10972800" cy="640080"/>
          </a:xfrm>
          <a:prstGeom prst="rect">
            <a:avLst/>
          </a:prstGeom>
          <a:noFill/>
          <a:ln/>
        </p:spPr>
        <p:txBody>
          <a:bodyPr wrap="square" rtlCol="0" anchor="ctr"/>
          <a:lstStyle/>
          <a:p>
            <a:pPr indent="0" marL="0">
              <a:buNone/>
            </a:pPr>
            <a:r>
              <a:rPr lang="en-US" sz="3400" b="1" dirty="0">
                <a:solidFill>
                  <a:srgbClr val="21295C"/>
                </a:solidFill>
                <a:latin typeface="Georgia" pitchFamily="34" charset="0"/>
                <a:ea typeface="Georgia" pitchFamily="34" charset="-122"/>
                <a:cs typeface="Georgia" pitchFamily="34" charset="-120"/>
              </a:rPr>
              <a:t>The privacy–attention dilemma</a:t>
            </a:r>
            <a:endParaRPr lang="en-US" sz="3400" dirty="0"/>
          </a:p>
        </p:txBody>
      </p:sp>
      <p:sp>
        <p:nvSpPr>
          <p:cNvPr id="5" name="Text 3"/>
          <p:cNvSpPr/>
          <p:nvPr/>
        </p:nvSpPr>
        <p:spPr>
          <a:xfrm>
            <a:off x="548640" y="1417320"/>
            <a:ext cx="10972800" cy="457200"/>
          </a:xfrm>
          <a:prstGeom prst="rect">
            <a:avLst/>
          </a:prstGeom>
          <a:noFill/>
          <a:ln/>
        </p:spPr>
        <p:txBody>
          <a:bodyPr wrap="square" rtlCol="0" anchor="ctr"/>
          <a:lstStyle/>
          <a:p>
            <a:pPr indent="0" marL="0">
              <a:buNone/>
            </a:pPr>
            <a:r>
              <a:rPr lang="en-US" sz="1600" dirty="0">
                <a:solidFill>
                  <a:srgbClr val="425568"/>
                </a:solidFill>
                <a:latin typeface="Calibri" pitchFamily="34" charset="0"/>
                <a:ea typeface="Calibri" pitchFamily="34" charset="-122"/>
                <a:cs typeface="Calibri" pitchFamily="34" charset="-120"/>
              </a:rPr>
              <a:t>Video calling forces a trade: room, body &amp; face exposed in exchange for a non-verbal signal.</a:t>
            </a:r>
            <a:endParaRPr lang="en-US" sz="1600" dirty="0"/>
          </a:p>
        </p:txBody>
      </p:sp>
      <p:sp>
        <p:nvSpPr>
          <p:cNvPr id="6" name="Shape 4"/>
          <p:cNvSpPr/>
          <p:nvPr/>
        </p:nvSpPr>
        <p:spPr>
          <a:xfrm>
            <a:off x="548640" y="2057400"/>
            <a:ext cx="5394960" cy="3794760"/>
          </a:xfrm>
          <a:prstGeom prst="roundRect">
            <a:avLst>
              <a:gd name="adj" fmla="val 2892"/>
            </a:avLst>
          </a:prstGeom>
          <a:solidFill>
            <a:srgbClr val="EFE6E0"/>
          </a:solidFill>
          <a:ln w="12700">
            <a:solidFill>
              <a:srgbClr val="D8C7BC"/>
            </a:solidFill>
            <a:prstDash val="solid"/>
          </a:ln>
        </p:spPr>
      </p:sp>
      <p:sp>
        <p:nvSpPr>
          <p:cNvPr id="7" name="Text 5"/>
          <p:cNvSpPr/>
          <p:nvPr/>
        </p:nvSpPr>
        <p:spPr>
          <a:xfrm>
            <a:off x="777240" y="2221992"/>
            <a:ext cx="4937760" cy="411480"/>
          </a:xfrm>
          <a:prstGeom prst="rect">
            <a:avLst/>
          </a:prstGeom>
          <a:noFill/>
          <a:ln/>
        </p:spPr>
        <p:txBody>
          <a:bodyPr wrap="square" rtlCol="0" anchor="ctr"/>
          <a:lstStyle/>
          <a:p>
            <a:pPr indent="0" marL="0">
              <a:buNone/>
            </a:pPr>
            <a:r>
              <a:rPr lang="en-US" sz="1600" b="1" dirty="0">
                <a:solidFill>
                  <a:srgbClr val="B85042"/>
                </a:solidFill>
                <a:latin typeface="Calibri" pitchFamily="34" charset="0"/>
                <a:ea typeface="Calibri" pitchFamily="34" charset="-122"/>
                <a:cs typeface="Calibri" pitchFamily="34" charset="-120"/>
              </a:rPr>
              <a:t>Cloud route (today)</a:t>
            </a:r>
            <a:endParaRPr lang="en-US" sz="1600" dirty="0"/>
          </a:p>
        </p:txBody>
      </p:sp>
      <p:sp>
        <p:nvSpPr>
          <p:cNvPr id="8" name="Text 6"/>
          <p:cNvSpPr/>
          <p:nvPr/>
        </p:nvSpPr>
        <p:spPr>
          <a:xfrm>
            <a:off x="777240" y="2697480"/>
            <a:ext cx="4983480" cy="2926080"/>
          </a:xfrm>
          <a:prstGeom prst="rect">
            <a:avLst/>
          </a:prstGeom>
          <a:noFill/>
          <a:ln/>
        </p:spPr>
        <p:txBody>
          <a:bodyPr wrap="square" rtlCol="0" anchor="ctr"/>
          <a:lstStyle/>
          <a:p>
            <a:pPr marL="342900" indent="-342900">
              <a:spcAft>
                <a:spcPts val="800"/>
              </a:spcAft>
              <a:buSzPct val="100000"/>
              <a:buChar char="●"/>
            </a:pPr>
            <a:r>
              <a:rPr lang="en-US" sz="1400" dirty="0">
                <a:solidFill>
                  <a:srgbClr val="5C2E1F"/>
                </a:solidFill>
                <a:latin typeface="Calibri" pitchFamily="34" charset="0"/>
                <a:ea typeface="Calibri" pitchFamily="34" charset="-122"/>
                <a:cs typeface="Calibri" pitchFamily="34" charset="-120"/>
              </a:rPr>
              <a:t>720 p Zoom-style stream</a:t>
            </a:r>
            <a:endParaRPr lang="en-US" sz="1400" dirty="0"/>
          </a:p>
          <a:p>
            <a:pPr marL="342900" indent="-342900">
              <a:spcAft>
                <a:spcPts val="800"/>
              </a:spcAft>
              <a:buSzPct val="100000"/>
              <a:buChar char="●"/>
            </a:pPr>
            <a:r>
              <a:rPr lang="en-US" sz="1400" dirty="0">
                <a:solidFill>
                  <a:srgbClr val="5C2E1F"/>
                </a:solidFill>
                <a:latin typeface="Calibri" pitchFamily="34" charset="0"/>
                <a:ea typeface="Calibri" pitchFamily="34" charset="-122"/>
                <a:cs typeface="Calibri" pitchFamily="34" charset="-120"/>
              </a:rPr>
              <a:t>~ 1 500 KB/s of pixels</a:t>
            </a:r>
            <a:endParaRPr lang="en-US" sz="1400" dirty="0"/>
          </a:p>
          <a:p>
            <a:pPr marL="342900" indent="-342900">
              <a:spcAft>
                <a:spcPts val="800"/>
              </a:spcAft>
              <a:buSzPct val="100000"/>
              <a:buChar char="●"/>
            </a:pPr>
            <a:r>
              <a:rPr lang="en-US" sz="1400" dirty="0">
                <a:solidFill>
                  <a:srgbClr val="5C2E1F"/>
                </a:solidFill>
                <a:latin typeface="Calibri" pitchFamily="34" charset="0"/>
                <a:ea typeface="Calibri" pitchFamily="34" charset="-122"/>
                <a:cs typeface="Calibri" pitchFamily="34" charset="-120"/>
              </a:rPr>
              <a:t>Frames leave device → trust shifts to provider</a:t>
            </a:r>
            <a:endParaRPr lang="en-US" sz="1400" dirty="0"/>
          </a:p>
          <a:p>
            <a:pPr marL="342900" indent="-342900">
              <a:spcAft>
                <a:spcPts val="800"/>
              </a:spcAft>
              <a:buSzPct val="100000"/>
              <a:buChar char="●"/>
            </a:pPr>
            <a:r>
              <a:rPr lang="en-US" sz="1400" dirty="0">
                <a:solidFill>
                  <a:srgbClr val="5C2E1F"/>
                </a:solidFill>
                <a:latin typeface="Calibri" pitchFamily="34" charset="0"/>
                <a:ea typeface="Calibri" pitchFamily="34" charset="-122"/>
                <a:cs typeface="Calibri" pitchFamily="34" charset="-120"/>
              </a:rPr>
              <a:t>Persona, ZEGO etc. still upload pixels</a:t>
            </a:r>
            <a:endParaRPr lang="en-US" sz="1400" dirty="0"/>
          </a:p>
        </p:txBody>
      </p:sp>
      <p:sp>
        <p:nvSpPr>
          <p:cNvPr id="9" name="Shape 7"/>
          <p:cNvSpPr/>
          <p:nvPr/>
        </p:nvSpPr>
        <p:spPr>
          <a:xfrm>
            <a:off x="6263640" y="2057400"/>
            <a:ext cx="5394960" cy="3794760"/>
          </a:xfrm>
          <a:prstGeom prst="roundRect">
            <a:avLst>
              <a:gd name="adj" fmla="val 2892"/>
            </a:avLst>
          </a:prstGeom>
          <a:solidFill>
            <a:srgbClr val="E0EEF5"/>
          </a:solidFill>
          <a:ln w="12700">
            <a:solidFill>
              <a:srgbClr val="1C7293"/>
            </a:solidFill>
            <a:prstDash val="solid"/>
          </a:ln>
        </p:spPr>
      </p:sp>
      <p:sp>
        <p:nvSpPr>
          <p:cNvPr id="10" name="Text 8"/>
          <p:cNvSpPr/>
          <p:nvPr/>
        </p:nvSpPr>
        <p:spPr>
          <a:xfrm>
            <a:off x="6492240" y="2221992"/>
            <a:ext cx="4937760" cy="411480"/>
          </a:xfrm>
          <a:prstGeom prst="rect">
            <a:avLst/>
          </a:prstGeom>
          <a:noFill/>
          <a:ln/>
        </p:spPr>
        <p:txBody>
          <a:bodyPr wrap="square" rtlCol="0" anchor="ctr"/>
          <a:lstStyle/>
          <a:p>
            <a:pPr indent="0" marL="0">
              <a:buNone/>
            </a:pPr>
            <a:r>
              <a:rPr lang="en-US" sz="1600" b="1" dirty="0">
                <a:solidFill>
                  <a:srgbClr val="065A82"/>
                </a:solidFill>
                <a:latin typeface="Calibri" pitchFamily="34" charset="0"/>
                <a:ea typeface="Calibri" pitchFamily="34" charset="-122"/>
                <a:cs typeface="Calibri" pitchFamily="34" charset="-120"/>
              </a:rPr>
              <a:t>Veil — fully on-device</a:t>
            </a:r>
            <a:endParaRPr lang="en-US" sz="1600" dirty="0"/>
          </a:p>
        </p:txBody>
      </p:sp>
      <p:sp>
        <p:nvSpPr>
          <p:cNvPr id="11" name="Text 9"/>
          <p:cNvSpPr/>
          <p:nvPr/>
        </p:nvSpPr>
        <p:spPr>
          <a:xfrm>
            <a:off x="6492240" y="2697480"/>
            <a:ext cx="4983480" cy="2926080"/>
          </a:xfrm>
          <a:prstGeom prst="rect">
            <a:avLst/>
          </a:prstGeom>
          <a:noFill/>
          <a:ln/>
        </p:spPr>
        <p:txBody>
          <a:bodyPr wrap="square" rtlCol="0" anchor="ctr"/>
          <a:lstStyle/>
          <a:p>
            <a:pPr marL="342900" indent="-342900">
              <a:spcAft>
                <a:spcPts val="800"/>
              </a:spcAft>
              <a:buSzPct val="100000"/>
              <a:buChar char="●"/>
            </a:pPr>
            <a:r>
              <a:rPr lang="en-US" sz="1400" dirty="0">
                <a:solidFill>
                  <a:srgbClr val="12253D"/>
                </a:solidFill>
                <a:latin typeface="Calibri" pitchFamily="34" charset="0"/>
                <a:ea typeface="Calibri" pitchFamily="34" charset="-122"/>
                <a:cs typeface="Calibri" pitchFamily="34" charset="-120"/>
              </a:rPr>
              <a:t>Camera → 52-d blendshapes → 1-D CNN → 233 B packet</a:t>
            </a:r>
            <a:endParaRPr lang="en-US" sz="1400" dirty="0"/>
          </a:p>
          <a:p>
            <a:pPr marL="342900" indent="-342900">
              <a:spcAft>
                <a:spcPts val="800"/>
              </a:spcAft>
              <a:buSzPct val="100000"/>
              <a:buChar char="●"/>
            </a:pPr>
            <a:r>
              <a:rPr lang="en-US" sz="1400" dirty="0">
                <a:solidFill>
                  <a:srgbClr val="12253D"/>
                </a:solidFill>
                <a:latin typeface="Calibri" pitchFamily="34" charset="0"/>
                <a:ea typeface="Calibri" pitchFamily="34" charset="-122"/>
                <a:cs typeface="Calibri" pitchFamily="34" charset="-120"/>
              </a:rPr>
              <a:t>~ 5.6 KB/s of pure semantics</a:t>
            </a:r>
            <a:endParaRPr lang="en-US" sz="1400" dirty="0"/>
          </a:p>
          <a:p>
            <a:pPr marL="342900" indent="-342900">
              <a:spcAft>
                <a:spcPts val="800"/>
              </a:spcAft>
              <a:buSzPct val="100000"/>
              <a:buChar char="●"/>
            </a:pPr>
            <a:r>
              <a:rPr lang="en-US" sz="1400" dirty="0">
                <a:solidFill>
                  <a:srgbClr val="12253D"/>
                </a:solidFill>
                <a:latin typeface="Calibri" pitchFamily="34" charset="0"/>
                <a:ea typeface="Calibri" pitchFamily="34" charset="-122"/>
                <a:cs typeface="Calibri" pitchFamily="34" charset="-120"/>
              </a:rPr>
              <a:t>3 orders of magnitude less than 720 p</a:t>
            </a:r>
            <a:endParaRPr lang="en-US" sz="1400" dirty="0"/>
          </a:p>
          <a:p>
            <a:pPr marL="342900" indent="-342900">
              <a:spcAft>
                <a:spcPts val="800"/>
              </a:spcAft>
              <a:buSzPct val="100000"/>
              <a:buChar char="●"/>
            </a:pPr>
            <a:r>
              <a:rPr lang="en-US" sz="1400" dirty="0">
                <a:solidFill>
                  <a:srgbClr val="12253D"/>
                </a:solidFill>
                <a:latin typeface="Calibri" pitchFamily="34" charset="0"/>
                <a:ea typeface="Calibri" pitchFamily="34" charset="-122"/>
                <a:cs typeface="Calibri" pitchFamily="34" charset="-120"/>
              </a:rPr>
              <a:t>No pixel, audio, or recognisable face leaves device</a:t>
            </a:r>
            <a:endParaRPr lang="en-US" sz="1400" dirty="0"/>
          </a:p>
        </p:txBody>
      </p:sp>
      <p:sp>
        <p:nvSpPr>
          <p:cNvPr id="12" name="Shape 10"/>
          <p:cNvSpPr/>
          <p:nvPr/>
        </p:nvSpPr>
        <p:spPr>
          <a:xfrm>
            <a:off x="548640" y="5989320"/>
            <a:ext cx="11109960" cy="594360"/>
          </a:xfrm>
          <a:prstGeom prst="roundRect">
            <a:avLst>
              <a:gd name="adj" fmla="val 49231"/>
            </a:avLst>
          </a:prstGeom>
          <a:solidFill>
            <a:srgbClr val="21295C"/>
          </a:solidFill>
          <a:ln w="12700">
            <a:solidFill>
              <a:srgbClr val="21295C"/>
            </a:solidFill>
            <a:prstDash val="solid"/>
          </a:ln>
        </p:spPr>
      </p:sp>
      <p:sp>
        <p:nvSpPr>
          <p:cNvPr id="13" name="Text 11"/>
          <p:cNvSpPr/>
          <p:nvPr/>
        </p:nvSpPr>
        <p:spPr>
          <a:xfrm>
            <a:off x="777240" y="6035040"/>
            <a:ext cx="10881360" cy="502920"/>
          </a:xfrm>
          <a:prstGeom prst="rect">
            <a:avLst/>
          </a:prstGeom>
          <a:noFill/>
          <a:ln/>
        </p:spPr>
        <p:txBody>
          <a:bodyPr wrap="square" rtlCol="0" anchor="ctr"/>
          <a:lstStyle/>
          <a:p>
            <a:pPr indent="0" marL="0">
              <a:buNone/>
            </a:pPr>
            <a:r>
              <a:rPr lang="en-US" sz="1350" b="1" dirty="0">
                <a:solidFill>
                  <a:srgbClr val="00C2A8"/>
                </a:solidFill>
                <a:latin typeface="Calibri" pitchFamily="34" charset="0"/>
                <a:ea typeface="Calibri" pitchFamily="34" charset="-122"/>
                <a:cs typeface="Calibri" pitchFamily="34" charset="-120"/>
              </a:rPr>
              <a:t>RQ  </a:t>
            </a:r>
            <a:pPr indent="0" marL="0">
              <a:buNone/>
            </a:pPr>
            <a:r>
              <a:rPr lang="en-US" sz="1350" dirty="0">
                <a:solidFill>
                  <a:srgbClr val="FFFFFF"/>
                </a:solidFill>
                <a:latin typeface="Calibri" pitchFamily="34" charset="0"/>
                <a:ea typeface="Calibri" pitchFamily="34" charset="-122"/>
                <a:cs typeface="Calibri" pitchFamily="34" charset="-120"/>
              </a:rPr>
              <a:t>Can a fully browser-resident pipeline mirror expressions and trigger mood-sync over a sub-6 KB/s semantic channel — without any face data leaving the device?</a:t>
            </a:r>
            <a:endParaRPr lang="en-US" sz="1350" dirty="0"/>
          </a:p>
        </p:txBody>
      </p:sp>
      <p:sp>
        <p:nvSpPr>
          <p:cNvPr id="14" name="Text 12"/>
          <p:cNvSpPr/>
          <p:nvPr/>
        </p:nvSpPr>
        <p:spPr>
          <a:xfrm>
            <a:off x="10972800" y="6446520"/>
            <a:ext cx="1005840" cy="274320"/>
          </a:xfrm>
          <a:prstGeom prst="rect">
            <a:avLst/>
          </a:prstGeom>
          <a:noFill/>
          <a:ln/>
        </p:spPr>
        <p:txBody>
          <a:bodyPr wrap="square" rtlCol="0" anchor="ctr"/>
          <a:lstStyle/>
          <a:p>
            <a:pPr algn="r" indent="0" marL="0">
              <a:buNone/>
            </a:pPr>
            <a:r>
              <a:rPr lang="en-US" sz="1000" dirty="0">
                <a:solidFill>
                  <a:srgbClr val="8FA3BF"/>
                </a:solidFill>
                <a:latin typeface="Calibri" pitchFamily="34" charset="0"/>
                <a:ea typeface="Calibri" pitchFamily="34" charset="-122"/>
                <a:cs typeface="Calibri" pitchFamily="34" charset="-120"/>
              </a:rPr>
              <a:t>2 / 9</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AFC"/>
        </a:solidFill>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065A82"/>
          </a:solidFill>
          <a:ln/>
        </p:spPr>
      </p:sp>
      <p:sp>
        <p:nvSpPr>
          <p:cNvPr id="3" name="Text 1"/>
          <p:cNvSpPr/>
          <p:nvPr/>
        </p:nvSpPr>
        <p:spPr>
          <a:xfrm>
            <a:off x="411480" y="274320"/>
            <a:ext cx="10972800" cy="365760"/>
          </a:xfrm>
          <a:prstGeom prst="rect">
            <a:avLst/>
          </a:prstGeom>
          <a:noFill/>
          <a:ln/>
        </p:spPr>
        <p:txBody>
          <a:bodyPr wrap="square" rtlCol="0" anchor="ctr"/>
          <a:lstStyle/>
          <a:p>
            <a:pPr indent="0" marL="0">
              <a:buNone/>
            </a:pPr>
            <a:r>
              <a:rPr lang="en-US" sz="1300" b="1" dirty="0">
                <a:solidFill>
                  <a:srgbClr val="065A82"/>
                </a:solidFill>
                <a:latin typeface="Calibri" pitchFamily="34" charset="0"/>
                <a:ea typeface="Calibri" pitchFamily="34" charset="-122"/>
                <a:cs typeface="Calibri" pitchFamily="34" charset="-120"/>
              </a:rPr>
              <a:t>02 · ARCHITECTURE</a:t>
            </a:r>
            <a:endParaRPr lang="en-US" sz="1300" dirty="0"/>
          </a:p>
        </p:txBody>
      </p:sp>
      <p:sp>
        <p:nvSpPr>
          <p:cNvPr id="4" name="Text 2"/>
          <p:cNvSpPr/>
          <p:nvPr/>
        </p:nvSpPr>
        <p:spPr>
          <a:xfrm>
            <a:off x="548640" y="777240"/>
            <a:ext cx="11338560" cy="594360"/>
          </a:xfrm>
          <a:prstGeom prst="rect">
            <a:avLst/>
          </a:prstGeom>
          <a:noFill/>
          <a:ln/>
        </p:spPr>
        <p:txBody>
          <a:bodyPr wrap="square" rtlCol="0" anchor="ctr"/>
          <a:lstStyle/>
          <a:p>
            <a:pPr indent="0" marL="0">
              <a:buNone/>
            </a:pPr>
            <a:r>
              <a:rPr lang="en-US" sz="2800" b="1" dirty="0">
                <a:solidFill>
                  <a:srgbClr val="21295C"/>
                </a:solidFill>
                <a:latin typeface="Georgia" pitchFamily="34" charset="0"/>
                <a:ea typeface="Georgia" pitchFamily="34" charset="-122"/>
                <a:cs typeface="Georgia" pitchFamily="34" charset="-120"/>
              </a:rPr>
              <a:t>Three layers — Layers 1 + 2 run on YOUR device</a:t>
            </a:r>
            <a:endParaRPr lang="en-US" sz="2800" dirty="0"/>
          </a:p>
        </p:txBody>
      </p:sp>
      <p:sp>
        <p:nvSpPr>
          <p:cNvPr id="5" name="Text 3"/>
          <p:cNvSpPr/>
          <p:nvPr/>
        </p:nvSpPr>
        <p:spPr>
          <a:xfrm>
            <a:off x="548640" y="1691640"/>
            <a:ext cx="5486400" cy="292608"/>
          </a:xfrm>
          <a:prstGeom prst="rect">
            <a:avLst/>
          </a:prstGeom>
          <a:noFill/>
          <a:ln/>
        </p:spPr>
        <p:txBody>
          <a:bodyPr wrap="square" rtlCol="0" anchor="ctr"/>
          <a:lstStyle/>
          <a:p>
            <a:pPr indent="0" marL="0">
              <a:buNone/>
            </a:pPr>
            <a:r>
              <a:rPr lang="en-US" sz="1200" b="1" dirty="0">
                <a:solidFill>
                  <a:srgbClr val="065A82"/>
                </a:solidFill>
                <a:latin typeface="Calibri" pitchFamily="34" charset="0"/>
                <a:ea typeface="Calibri" pitchFamily="34" charset="-122"/>
                <a:cs typeface="Calibri" pitchFamily="34" charset="-120"/>
              </a:rPr>
              <a:t>Stack</a:t>
            </a:r>
            <a:endParaRPr lang="en-US" sz="1200" dirty="0"/>
          </a:p>
        </p:txBody>
      </p:sp>
      <p:sp>
        <p:nvSpPr>
          <p:cNvPr id="6" name="Shape 4"/>
          <p:cNvSpPr/>
          <p:nvPr/>
        </p:nvSpPr>
        <p:spPr>
          <a:xfrm>
            <a:off x="548640" y="2103120"/>
            <a:ext cx="5486400" cy="1143000"/>
          </a:xfrm>
          <a:prstGeom prst="roundRect">
            <a:avLst>
              <a:gd name="adj" fmla="val 6400"/>
            </a:avLst>
          </a:prstGeom>
          <a:solidFill>
            <a:srgbClr val="065A82"/>
          </a:solidFill>
          <a:ln w="12700">
            <a:solidFill>
              <a:srgbClr val="065A82"/>
            </a:solidFill>
            <a:prstDash val="solid"/>
          </a:ln>
        </p:spPr>
      </p:sp>
      <p:sp>
        <p:nvSpPr>
          <p:cNvPr id="7" name="Text 5"/>
          <p:cNvSpPr/>
          <p:nvPr/>
        </p:nvSpPr>
        <p:spPr>
          <a:xfrm>
            <a:off x="731520" y="2194560"/>
            <a:ext cx="3931920" cy="365760"/>
          </a:xfrm>
          <a:prstGeom prst="rect">
            <a:avLst/>
          </a:prstGeom>
          <a:noFill/>
          <a:ln/>
        </p:spPr>
        <p:txBody>
          <a:bodyPr wrap="square"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L3 · Presentation</a:t>
            </a:r>
            <a:endParaRPr lang="en-US" sz="1500" dirty="0"/>
          </a:p>
        </p:txBody>
      </p:sp>
      <p:sp>
        <p:nvSpPr>
          <p:cNvPr id="8" name="Text 6"/>
          <p:cNvSpPr/>
          <p:nvPr/>
        </p:nvSpPr>
        <p:spPr>
          <a:xfrm>
            <a:off x="731520" y="2606040"/>
            <a:ext cx="3931920" cy="594360"/>
          </a:xfrm>
          <a:prstGeom prst="rect">
            <a:avLst/>
          </a:prstGeom>
          <a:noFill/>
          <a:ln/>
        </p:spPr>
        <p:txBody>
          <a:bodyPr wrap="square" rtlCol="0" anchor="ctr"/>
          <a:lstStyle/>
          <a:p>
            <a:pPr indent="0" marL="0">
              <a:buNone/>
            </a:pPr>
            <a:r>
              <a:rPr lang="en-US" sz="1150" dirty="0">
                <a:solidFill>
                  <a:srgbClr val="E8F1F8"/>
                </a:solidFill>
                <a:latin typeface="Calibri" pitchFamily="34" charset="0"/>
                <a:ea typeface="Calibri" pitchFamily="34" charset="-122"/>
                <a:cs typeface="Calibri" pitchFamily="34" charset="-120"/>
              </a:rPr>
              <a:t>Three.js + @pixiv/three-vrm  ·  drives morphTargetInfluences / VRM expressions @ 24 Hz</a:t>
            </a:r>
            <a:endParaRPr lang="en-US" sz="1150" dirty="0"/>
          </a:p>
        </p:txBody>
      </p:sp>
      <p:sp>
        <p:nvSpPr>
          <p:cNvPr id="9" name="Shape 7"/>
          <p:cNvSpPr/>
          <p:nvPr/>
        </p:nvSpPr>
        <p:spPr>
          <a:xfrm>
            <a:off x="4617720" y="2267712"/>
            <a:ext cx="1280160" cy="384048"/>
          </a:xfrm>
          <a:prstGeom prst="roundRect">
            <a:avLst>
              <a:gd name="adj" fmla="val 42857"/>
            </a:avLst>
          </a:prstGeom>
          <a:solidFill>
            <a:srgbClr val="0B1A2A"/>
          </a:solidFill>
          <a:ln w="12700">
            <a:solidFill>
              <a:srgbClr val="00C2A8"/>
            </a:solidFill>
            <a:prstDash val="solid"/>
          </a:ln>
        </p:spPr>
      </p:sp>
      <p:sp>
        <p:nvSpPr>
          <p:cNvPr id="10" name="Text 8"/>
          <p:cNvSpPr/>
          <p:nvPr/>
        </p:nvSpPr>
        <p:spPr>
          <a:xfrm>
            <a:off x="4617720" y="2267712"/>
            <a:ext cx="1280160" cy="384048"/>
          </a:xfrm>
          <a:prstGeom prst="rect">
            <a:avLst/>
          </a:prstGeom>
          <a:noFill/>
          <a:ln/>
        </p:spPr>
        <p:txBody>
          <a:bodyPr wrap="square" rtlCol="0" anchor="ctr"/>
          <a:lstStyle/>
          <a:p>
            <a:pPr algn="ctr" indent="0" marL="0">
              <a:buNone/>
            </a:pPr>
            <a:r>
              <a:rPr lang="en-US" sz="1000" b="1" dirty="0">
                <a:solidFill>
                  <a:srgbClr val="00C2A8"/>
                </a:solidFill>
                <a:latin typeface="Calibri" pitchFamily="34" charset="0"/>
                <a:ea typeface="Calibri" pitchFamily="34" charset="-122"/>
                <a:cs typeface="Calibri" pitchFamily="34" charset="-120"/>
              </a:rPr>
              <a:t>on-device</a:t>
            </a:r>
            <a:endParaRPr lang="en-US" sz="1000" dirty="0"/>
          </a:p>
        </p:txBody>
      </p:sp>
      <p:sp>
        <p:nvSpPr>
          <p:cNvPr id="11" name="Shape 9"/>
          <p:cNvSpPr/>
          <p:nvPr/>
        </p:nvSpPr>
        <p:spPr>
          <a:xfrm>
            <a:off x="548640" y="3429000"/>
            <a:ext cx="5486400" cy="1143000"/>
          </a:xfrm>
          <a:prstGeom prst="roundRect">
            <a:avLst>
              <a:gd name="adj" fmla="val 6400"/>
            </a:avLst>
          </a:prstGeom>
          <a:solidFill>
            <a:srgbClr val="1C7293"/>
          </a:solidFill>
          <a:ln w="12700">
            <a:solidFill>
              <a:srgbClr val="1C7293"/>
            </a:solidFill>
            <a:prstDash val="solid"/>
          </a:ln>
        </p:spPr>
      </p:sp>
      <p:sp>
        <p:nvSpPr>
          <p:cNvPr id="12" name="Text 10"/>
          <p:cNvSpPr/>
          <p:nvPr/>
        </p:nvSpPr>
        <p:spPr>
          <a:xfrm>
            <a:off x="731520" y="3520440"/>
            <a:ext cx="3931920" cy="365760"/>
          </a:xfrm>
          <a:prstGeom prst="rect">
            <a:avLst/>
          </a:prstGeom>
          <a:noFill/>
          <a:ln/>
        </p:spPr>
        <p:txBody>
          <a:bodyPr wrap="square"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L2 · Emotion Engine  (mobile_avatar.html)</a:t>
            </a:r>
            <a:endParaRPr lang="en-US" sz="1500" dirty="0"/>
          </a:p>
        </p:txBody>
      </p:sp>
      <p:sp>
        <p:nvSpPr>
          <p:cNvPr id="13" name="Text 11"/>
          <p:cNvSpPr/>
          <p:nvPr/>
        </p:nvSpPr>
        <p:spPr>
          <a:xfrm>
            <a:off x="731520" y="3931920"/>
            <a:ext cx="3931920" cy="594360"/>
          </a:xfrm>
          <a:prstGeom prst="rect">
            <a:avLst/>
          </a:prstGeom>
          <a:noFill/>
          <a:ln/>
        </p:spPr>
        <p:txBody>
          <a:bodyPr wrap="square" rtlCol="0" anchor="ctr"/>
          <a:lstStyle/>
          <a:p>
            <a:pPr indent="0" marL="0">
              <a:buNone/>
            </a:pPr>
            <a:r>
              <a:rPr lang="en-US" sz="1150" dirty="0">
                <a:solidFill>
                  <a:srgbClr val="E8F1F8"/>
                </a:solidFill>
                <a:latin typeface="Calibri" pitchFamily="34" charset="0"/>
                <a:ea typeface="Calibri" pitchFamily="34" charset="-122"/>
                <a:cs typeface="Calibri" pitchFamily="34" charset="-120"/>
              </a:rPr>
              <a:t>MediaPipe → 52-d → 1-D CNN → vote / cooldown → packet encoder</a:t>
            </a:r>
            <a:endParaRPr lang="en-US" sz="1150" dirty="0"/>
          </a:p>
        </p:txBody>
      </p:sp>
      <p:sp>
        <p:nvSpPr>
          <p:cNvPr id="14" name="Shape 12"/>
          <p:cNvSpPr/>
          <p:nvPr/>
        </p:nvSpPr>
        <p:spPr>
          <a:xfrm>
            <a:off x="4617720" y="3593592"/>
            <a:ext cx="1280160" cy="384048"/>
          </a:xfrm>
          <a:prstGeom prst="roundRect">
            <a:avLst>
              <a:gd name="adj" fmla="val 42857"/>
            </a:avLst>
          </a:prstGeom>
          <a:solidFill>
            <a:srgbClr val="0B1A2A"/>
          </a:solidFill>
          <a:ln w="12700">
            <a:solidFill>
              <a:srgbClr val="00C2A8"/>
            </a:solidFill>
            <a:prstDash val="solid"/>
          </a:ln>
        </p:spPr>
      </p:sp>
      <p:sp>
        <p:nvSpPr>
          <p:cNvPr id="15" name="Text 13"/>
          <p:cNvSpPr/>
          <p:nvPr/>
        </p:nvSpPr>
        <p:spPr>
          <a:xfrm>
            <a:off x="4617720" y="3593592"/>
            <a:ext cx="1280160" cy="384048"/>
          </a:xfrm>
          <a:prstGeom prst="rect">
            <a:avLst/>
          </a:prstGeom>
          <a:noFill/>
          <a:ln/>
        </p:spPr>
        <p:txBody>
          <a:bodyPr wrap="square" rtlCol="0" anchor="ctr"/>
          <a:lstStyle/>
          <a:p>
            <a:pPr algn="ctr" indent="0" marL="0">
              <a:buNone/>
            </a:pPr>
            <a:r>
              <a:rPr lang="en-US" sz="1000" b="1" dirty="0">
                <a:solidFill>
                  <a:srgbClr val="00C2A8"/>
                </a:solidFill>
                <a:latin typeface="Calibri" pitchFamily="34" charset="0"/>
                <a:ea typeface="Calibri" pitchFamily="34" charset="-122"/>
                <a:cs typeface="Calibri" pitchFamily="34" charset="-120"/>
              </a:rPr>
              <a:t>on-device</a:t>
            </a:r>
            <a:endParaRPr lang="en-US" sz="1000" dirty="0"/>
          </a:p>
        </p:txBody>
      </p:sp>
      <p:sp>
        <p:nvSpPr>
          <p:cNvPr id="16" name="Shape 14"/>
          <p:cNvSpPr/>
          <p:nvPr/>
        </p:nvSpPr>
        <p:spPr>
          <a:xfrm>
            <a:off x="548640" y="4754880"/>
            <a:ext cx="5486400" cy="1143000"/>
          </a:xfrm>
          <a:prstGeom prst="roundRect">
            <a:avLst>
              <a:gd name="adj" fmla="val 6400"/>
            </a:avLst>
          </a:prstGeom>
          <a:solidFill>
            <a:srgbClr val="4A6A85"/>
          </a:solidFill>
          <a:ln w="12700">
            <a:solidFill>
              <a:srgbClr val="4A6A85"/>
            </a:solidFill>
            <a:prstDash val="solid"/>
          </a:ln>
        </p:spPr>
      </p:sp>
      <p:sp>
        <p:nvSpPr>
          <p:cNvPr id="17" name="Text 15"/>
          <p:cNvSpPr/>
          <p:nvPr/>
        </p:nvSpPr>
        <p:spPr>
          <a:xfrm>
            <a:off x="731520" y="4846320"/>
            <a:ext cx="3931920" cy="365760"/>
          </a:xfrm>
          <a:prstGeom prst="rect">
            <a:avLst/>
          </a:prstGeom>
          <a:noFill/>
          <a:ln/>
        </p:spPr>
        <p:txBody>
          <a:bodyPr wrap="square"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L1 · Relay  (server_rooms.js · ws :8765)</a:t>
            </a:r>
            <a:endParaRPr lang="en-US" sz="1500" dirty="0"/>
          </a:p>
        </p:txBody>
      </p:sp>
      <p:sp>
        <p:nvSpPr>
          <p:cNvPr id="18" name="Text 16"/>
          <p:cNvSpPr/>
          <p:nvPr/>
        </p:nvSpPr>
        <p:spPr>
          <a:xfrm>
            <a:off x="731520" y="5257800"/>
            <a:ext cx="3931920" cy="594360"/>
          </a:xfrm>
          <a:prstGeom prst="rect">
            <a:avLst/>
          </a:prstGeom>
          <a:noFill/>
          <a:ln/>
        </p:spPr>
        <p:txBody>
          <a:bodyPr wrap="square" rtlCol="0" anchor="ctr"/>
          <a:lstStyle/>
          <a:p>
            <a:pPr indent="0" marL="0">
              <a:buNone/>
            </a:pPr>
            <a:r>
              <a:rPr lang="en-US" sz="1150" dirty="0">
                <a:solidFill>
                  <a:srgbClr val="E8F1F8"/>
                </a:solidFill>
                <a:latin typeface="Calibri" pitchFamily="34" charset="0"/>
                <a:ea typeface="Calibri" pitchFamily="34" charset="-122"/>
                <a:cs typeface="Calibri" pitchFamily="34" charset="-120"/>
              </a:rPr>
              <a:t>Forwards opaque 233-byte frames  ·  never inspects payload</a:t>
            </a:r>
            <a:endParaRPr lang="en-US" sz="1150" dirty="0"/>
          </a:p>
        </p:txBody>
      </p:sp>
      <p:sp>
        <p:nvSpPr>
          <p:cNvPr id="19" name="Shape 17"/>
          <p:cNvSpPr/>
          <p:nvPr/>
        </p:nvSpPr>
        <p:spPr>
          <a:xfrm>
            <a:off x="4617720" y="4919472"/>
            <a:ext cx="1280160" cy="384048"/>
          </a:xfrm>
          <a:prstGeom prst="roundRect">
            <a:avLst>
              <a:gd name="adj" fmla="val 42857"/>
            </a:avLst>
          </a:prstGeom>
          <a:solidFill>
            <a:srgbClr val="0B1A2A"/>
          </a:solidFill>
          <a:ln w="12700">
            <a:solidFill>
              <a:srgbClr val="F2A65A"/>
            </a:solidFill>
            <a:prstDash val="solid"/>
          </a:ln>
        </p:spPr>
      </p:sp>
      <p:sp>
        <p:nvSpPr>
          <p:cNvPr id="20" name="Text 18"/>
          <p:cNvSpPr/>
          <p:nvPr/>
        </p:nvSpPr>
        <p:spPr>
          <a:xfrm>
            <a:off x="4617720" y="4919472"/>
            <a:ext cx="1280160" cy="384048"/>
          </a:xfrm>
          <a:prstGeom prst="rect">
            <a:avLst/>
          </a:prstGeom>
          <a:noFill/>
          <a:ln/>
        </p:spPr>
        <p:txBody>
          <a:bodyPr wrap="square" rtlCol="0" anchor="ctr"/>
          <a:lstStyle/>
          <a:p>
            <a:pPr algn="ctr" indent="0" marL="0">
              <a:buNone/>
            </a:pPr>
            <a:r>
              <a:rPr lang="en-US" sz="1000" b="1" dirty="0">
                <a:solidFill>
                  <a:srgbClr val="F2A65A"/>
                </a:solidFill>
                <a:latin typeface="Calibri" pitchFamily="34" charset="0"/>
                <a:ea typeface="Calibri" pitchFamily="34" charset="-122"/>
                <a:cs typeface="Calibri" pitchFamily="34" charset="-120"/>
              </a:rPr>
              <a:t>relay only</a:t>
            </a:r>
            <a:endParaRPr lang="en-US" sz="1000" dirty="0"/>
          </a:p>
        </p:txBody>
      </p:sp>
      <p:sp>
        <p:nvSpPr>
          <p:cNvPr id="21" name="Text 19"/>
          <p:cNvSpPr/>
          <p:nvPr/>
        </p:nvSpPr>
        <p:spPr>
          <a:xfrm>
            <a:off x="6400800" y="1691640"/>
            <a:ext cx="5486400" cy="292608"/>
          </a:xfrm>
          <a:prstGeom prst="rect">
            <a:avLst/>
          </a:prstGeom>
          <a:noFill/>
          <a:ln/>
        </p:spPr>
        <p:txBody>
          <a:bodyPr wrap="square" rtlCol="0" anchor="ctr"/>
          <a:lstStyle/>
          <a:p>
            <a:pPr indent="0" marL="0">
              <a:buNone/>
            </a:pPr>
            <a:r>
              <a:rPr lang="en-US" sz="1200" b="1" dirty="0">
                <a:solidFill>
                  <a:srgbClr val="065A82"/>
                </a:solidFill>
                <a:latin typeface="Calibri" pitchFamily="34" charset="0"/>
                <a:ea typeface="Calibri" pitchFamily="34" charset="-122"/>
                <a:cs typeface="Calibri" pitchFamily="34" charset="-120"/>
              </a:rPr>
              <a:t>Data flow per frame  (≤ 33 ms)</a:t>
            </a:r>
            <a:endParaRPr lang="en-US" sz="1200" dirty="0"/>
          </a:p>
        </p:txBody>
      </p:sp>
      <p:sp>
        <p:nvSpPr>
          <p:cNvPr id="22" name="Shape 20"/>
          <p:cNvSpPr/>
          <p:nvPr/>
        </p:nvSpPr>
        <p:spPr>
          <a:xfrm>
            <a:off x="6400800" y="2103120"/>
            <a:ext cx="5486400" cy="603504"/>
          </a:xfrm>
          <a:prstGeom prst="roundRect">
            <a:avLst>
              <a:gd name="adj" fmla="val 12121"/>
            </a:avLst>
          </a:prstGeom>
          <a:solidFill>
            <a:srgbClr val="E0EEF5"/>
          </a:solidFill>
          <a:ln w="12700">
            <a:solidFill>
              <a:srgbClr val="C8D5DF"/>
            </a:solidFill>
            <a:prstDash val="solid"/>
          </a:ln>
        </p:spPr>
      </p:sp>
      <p:sp>
        <p:nvSpPr>
          <p:cNvPr id="23" name="Text 21"/>
          <p:cNvSpPr/>
          <p:nvPr/>
        </p:nvSpPr>
        <p:spPr>
          <a:xfrm>
            <a:off x="6565392" y="2157984"/>
            <a:ext cx="2194560" cy="502920"/>
          </a:xfrm>
          <a:prstGeom prst="rect">
            <a:avLst/>
          </a:prstGeom>
          <a:noFill/>
          <a:ln/>
        </p:spPr>
        <p:txBody>
          <a:bodyPr wrap="square" rtlCol="0" anchor="ctr"/>
          <a:lstStyle/>
          <a:p>
            <a:pPr indent="0" marL="0">
              <a:buNone/>
            </a:pPr>
            <a:r>
              <a:rPr lang="en-US" sz="1300" b="1" dirty="0">
                <a:solidFill>
                  <a:srgbClr val="21295C"/>
                </a:solidFill>
                <a:latin typeface="Calibri" pitchFamily="34" charset="0"/>
                <a:ea typeface="Calibri" pitchFamily="34" charset="-122"/>
                <a:cs typeface="Calibri" pitchFamily="34" charset="-120"/>
              </a:rPr>
              <a:t>Camera</a:t>
            </a:r>
            <a:endParaRPr lang="en-US" sz="1300" dirty="0"/>
          </a:p>
        </p:txBody>
      </p:sp>
      <p:sp>
        <p:nvSpPr>
          <p:cNvPr id="24" name="Text 22"/>
          <p:cNvSpPr/>
          <p:nvPr/>
        </p:nvSpPr>
        <p:spPr>
          <a:xfrm>
            <a:off x="8686800" y="2157984"/>
            <a:ext cx="3063240" cy="502920"/>
          </a:xfrm>
          <a:prstGeom prst="rect">
            <a:avLst/>
          </a:prstGeom>
          <a:noFill/>
          <a:ln/>
        </p:spPr>
        <p:txBody>
          <a:bodyPr wrap="square" rtlCol="0" anchor="ctr"/>
          <a:lstStyle/>
          <a:p>
            <a:pPr indent="0" marL="0">
              <a:buNone/>
            </a:pPr>
            <a:r>
              <a:rPr lang="en-US" sz="1100" dirty="0">
                <a:solidFill>
                  <a:srgbClr val="425568"/>
                </a:solidFill>
                <a:latin typeface="Calibri" pitchFamily="34" charset="0"/>
                <a:ea typeface="Calibri" pitchFamily="34" charset="-122"/>
                <a:cs typeface="Calibri" pitchFamily="34" charset="-120"/>
              </a:rPr>
              <a:t>720 p frame, never sent</a:t>
            </a:r>
            <a:endParaRPr lang="en-US" sz="1100" dirty="0"/>
          </a:p>
        </p:txBody>
      </p:sp>
      <p:sp>
        <p:nvSpPr>
          <p:cNvPr id="25" name="Text 23"/>
          <p:cNvSpPr/>
          <p:nvPr/>
        </p:nvSpPr>
        <p:spPr>
          <a:xfrm>
            <a:off x="8869680" y="2651760"/>
            <a:ext cx="548640" cy="182880"/>
          </a:xfrm>
          <a:prstGeom prst="rect">
            <a:avLst/>
          </a:prstGeom>
          <a:noFill/>
          <a:ln/>
        </p:spPr>
        <p:txBody>
          <a:bodyPr wrap="square" rtlCol="0" anchor="ctr"/>
          <a:lstStyle/>
          <a:p>
            <a:pPr algn="ctr" indent="0" marL="0">
              <a:buNone/>
            </a:pPr>
            <a:r>
              <a:rPr lang="en-US" sz="1000" dirty="0">
                <a:solidFill>
                  <a:srgbClr val="1C7293"/>
                </a:solidFill>
                <a:latin typeface="Calibri" pitchFamily="34" charset="0"/>
                <a:ea typeface="Calibri" pitchFamily="34" charset="-122"/>
                <a:cs typeface="Calibri" pitchFamily="34" charset="-120"/>
              </a:rPr>
              <a:t>▼</a:t>
            </a:r>
            <a:endParaRPr lang="en-US" sz="1000" dirty="0"/>
          </a:p>
        </p:txBody>
      </p:sp>
      <p:sp>
        <p:nvSpPr>
          <p:cNvPr id="26" name="Shape 24"/>
          <p:cNvSpPr/>
          <p:nvPr/>
        </p:nvSpPr>
        <p:spPr>
          <a:xfrm>
            <a:off x="6400800" y="2816352"/>
            <a:ext cx="5486400" cy="603504"/>
          </a:xfrm>
          <a:prstGeom prst="roundRect">
            <a:avLst>
              <a:gd name="adj" fmla="val 12121"/>
            </a:avLst>
          </a:prstGeom>
          <a:solidFill>
            <a:srgbClr val="E0EEF5"/>
          </a:solidFill>
          <a:ln w="12700">
            <a:solidFill>
              <a:srgbClr val="C8D5DF"/>
            </a:solidFill>
            <a:prstDash val="solid"/>
          </a:ln>
        </p:spPr>
      </p:sp>
      <p:sp>
        <p:nvSpPr>
          <p:cNvPr id="27" name="Text 25"/>
          <p:cNvSpPr/>
          <p:nvPr/>
        </p:nvSpPr>
        <p:spPr>
          <a:xfrm>
            <a:off x="6565392" y="2871216"/>
            <a:ext cx="2194560" cy="502920"/>
          </a:xfrm>
          <a:prstGeom prst="rect">
            <a:avLst/>
          </a:prstGeom>
          <a:noFill/>
          <a:ln/>
        </p:spPr>
        <p:txBody>
          <a:bodyPr wrap="square" rtlCol="0" anchor="ctr"/>
          <a:lstStyle/>
          <a:p>
            <a:pPr indent="0" marL="0">
              <a:buNone/>
            </a:pPr>
            <a:r>
              <a:rPr lang="en-US" sz="1300" b="1" dirty="0">
                <a:solidFill>
                  <a:srgbClr val="21295C"/>
                </a:solidFill>
                <a:latin typeface="Calibri" pitchFamily="34" charset="0"/>
                <a:ea typeface="Calibri" pitchFamily="34" charset="-122"/>
                <a:cs typeface="Calibri" pitchFamily="34" charset="-120"/>
              </a:rPr>
              <a:t>MediaPipe</a:t>
            </a:r>
            <a:endParaRPr lang="en-US" sz="1300" dirty="0"/>
          </a:p>
        </p:txBody>
      </p:sp>
      <p:sp>
        <p:nvSpPr>
          <p:cNvPr id="28" name="Text 26"/>
          <p:cNvSpPr/>
          <p:nvPr/>
        </p:nvSpPr>
        <p:spPr>
          <a:xfrm>
            <a:off x="8686800" y="2871216"/>
            <a:ext cx="3063240" cy="502920"/>
          </a:xfrm>
          <a:prstGeom prst="rect">
            <a:avLst/>
          </a:prstGeom>
          <a:noFill/>
          <a:ln/>
        </p:spPr>
        <p:txBody>
          <a:bodyPr wrap="square" rtlCol="0" anchor="ctr"/>
          <a:lstStyle/>
          <a:p>
            <a:pPr indent="0" marL="0">
              <a:buNone/>
            </a:pPr>
            <a:r>
              <a:rPr lang="en-US" sz="1100" dirty="0">
                <a:solidFill>
                  <a:srgbClr val="425568"/>
                </a:solidFill>
                <a:latin typeface="Calibri" pitchFamily="34" charset="0"/>
                <a:ea typeface="Calibri" pitchFamily="34" charset="-122"/>
                <a:cs typeface="Calibri" pitchFamily="34" charset="-120"/>
              </a:rPr>
              <a:t>52-d blendshapes · 22 ms</a:t>
            </a:r>
            <a:endParaRPr lang="en-US" sz="1100" dirty="0"/>
          </a:p>
        </p:txBody>
      </p:sp>
      <p:sp>
        <p:nvSpPr>
          <p:cNvPr id="29" name="Text 27"/>
          <p:cNvSpPr/>
          <p:nvPr/>
        </p:nvSpPr>
        <p:spPr>
          <a:xfrm>
            <a:off x="8869680" y="3364992"/>
            <a:ext cx="548640" cy="182880"/>
          </a:xfrm>
          <a:prstGeom prst="rect">
            <a:avLst/>
          </a:prstGeom>
          <a:noFill/>
          <a:ln/>
        </p:spPr>
        <p:txBody>
          <a:bodyPr wrap="square" rtlCol="0" anchor="ctr"/>
          <a:lstStyle/>
          <a:p>
            <a:pPr algn="ctr" indent="0" marL="0">
              <a:buNone/>
            </a:pPr>
            <a:r>
              <a:rPr lang="en-US" sz="1000" dirty="0">
                <a:solidFill>
                  <a:srgbClr val="1C7293"/>
                </a:solidFill>
                <a:latin typeface="Calibri" pitchFamily="34" charset="0"/>
                <a:ea typeface="Calibri" pitchFamily="34" charset="-122"/>
                <a:cs typeface="Calibri" pitchFamily="34" charset="-120"/>
              </a:rPr>
              <a:t>▼</a:t>
            </a:r>
            <a:endParaRPr lang="en-US" sz="1000" dirty="0"/>
          </a:p>
        </p:txBody>
      </p:sp>
      <p:sp>
        <p:nvSpPr>
          <p:cNvPr id="30" name="Shape 28"/>
          <p:cNvSpPr/>
          <p:nvPr/>
        </p:nvSpPr>
        <p:spPr>
          <a:xfrm>
            <a:off x="6400800" y="3529584"/>
            <a:ext cx="5486400" cy="603504"/>
          </a:xfrm>
          <a:prstGeom prst="roundRect">
            <a:avLst>
              <a:gd name="adj" fmla="val 12121"/>
            </a:avLst>
          </a:prstGeom>
          <a:solidFill>
            <a:srgbClr val="E0EEF5"/>
          </a:solidFill>
          <a:ln w="12700">
            <a:solidFill>
              <a:srgbClr val="C8D5DF"/>
            </a:solidFill>
            <a:prstDash val="solid"/>
          </a:ln>
        </p:spPr>
      </p:sp>
      <p:sp>
        <p:nvSpPr>
          <p:cNvPr id="31" name="Text 29"/>
          <p:cNvSpPr/>
          <p:nvPr/>
        </p:nvSpPr>
        <p:spPr>
          <a:xfrm>
            <a:off x="6565392" y="3584448"/>
            <a:ext cx="2194560" cy="502920"/>
          </a:xfrm>
          <a:prstGeom prst="rect">
            <a:avLst/>
          </a:prstGeom>
          <a:noFill/>
          <a:ln/>
        </p:spPr>
        <p:txBody>
          <a:bodyPr wrap="square" rtlCol="0" anchor="ctr"/>
          <a:lstStyle/>
          <a:p>
            <a:pPr indent="0" marL="0">
              <a:buNone/>
            </a:pPr>
            <a:r>
              <a:rPr lang="en-US" sz="1300" b="1" dirty="0">
                <a:solidFill>
                  <a:srgbClr val="21295C"/>
                </a:solidFill>
                <a:latin typeface="Calibri" pitchFamily="34" charset="0"/>
                <a:ea typeface="Calibri" pitchFamily="34" charset="-122"/>
                <a:cs typeface="Calibri" pitchFamily="34" charset="-120"/>
              </a:rPr>
              <a:t>1-D CNN</a:t>
            </a:r>
            <a:endParaRPr lang="en-US" sz="1300" dirty="0"/>
          </a:p>
        </p:txBody>
      </p:sp>
      <p:sp>
        <p:nvSpPr>
          <p:cNvPr id="32" name="Text 30"/>
          <p:cNvSpPr/>
          <p:nvPr/>
        </p:nvSpPr>
        <p:spPr>
          <a:xfrm>
            <a:off x="8686800" y="3584448"/>
            <a:ext cx="3063240" cy="502920"/>
          </a:xfrm>
          <a:prstGeom prst="rect">
            <a:avLst/>
          </a:prstGeom>
          <a:noFill/>
          <a:ln/>
        </p:spPr>
        <p:txBody>
          <a:bodyPr wrap="square" rtlCol="0" anchor="ctr"/>
          <a:lstStyle/>
          <a:p>
            <a:pPr indent="0" marL="0">
              <a:buNone/>
            </a:pPr>
            <a:r>
              <a:rPr lang="en-US" sz="1100" dirty="0">
                <a:solidFill>
                  <a:srgbClr val="425568"/>
                </a:solidFill>
                <a:latin typeface="Calibri" pitchFamily="34" charset="0"/>
                <a:ea typeface="Calibri" pitchFamily="34" charset="-122"/>
                <a:cs typeface="Calibri" pitchFamily="34" charset="-120"/>
              </a:rPr>
              <a:t>32 K params · 2.8 ms</a:t>
            </a:r>
            <a:endParaRPr lang="en-US" sz="1100" dirty="0"/>
          </a:p>
        </p:txBody>
      </p:sp>
      <p:sp>
        <p:nvSpPr>
          <p:cNvPr id="33" name="Text 31"/>
          <p:cNvSpPr/>
          <p:nvPr/>
        </p:nvSpPr>
        <p:spPr>
          <a:xfrm>
            <a:off x="8869680" y="4078224"/>
            <a:ext cx="548640" cy="182880"/>
          </a:xfrm>
          <a:prstGeom prst="rect">
            <a:avLst/>
          </a:prstGeom>
          <a:noFill/>
          <a:ln/>
        </p:spPr>
        <p:txBody>
          <a:bodyPr wrap="square" rtlCol="0" anchor="ctr"/>
          <a:lstStyle/>
          <a:p>
            <a:pPr algn="ctr" indent="0" marL="0">
              <a:buNone/>
            </a:pPr>
            <a:r>
              <a:rPr lang="en-US" sz="1000" dirty="0">
                <a:solidFill>
                  <a:srgbClr val="1C7293"/>
                </a:solidFill>
                <a:latin typeface="Calibri" pitchFamily="34" charset="0"/>
                <a:ea typeface="Calibri" pitchFamily="34" charset="-122"/>
                <a:cs typeface="Calibri" pitchFamily="34" charset="-120"/>
              </a:rPr>
              <a:t>▼</a:t>
            </a:r>
            <a:endParaRPr lang="en-US" sz="1000" dirty="0"/>
          </a:p>
        </p:txBody>
      </p:sp>
      <p:sp>
        <p:nvSpPr>
          <p:cNvPr id="34" name="Shape 32"/>
          <p:cNvSpPr/>
          <p:nvPr/>
        </p:nvSpPr>
        <p:spPr>
          <a:xfrm>
            <a:off x="6400800" y="4242816"/>
            <a:ext cx="5486400" cy="603504"/>
          </a:xfrm>
          <a:prstGeom prst="roundRect">
            <a:avLst>
              <a:gd name="adj" fmla="val 12121"/>
            </a:avLst>
          </a:prstGeom>
          <a:solidFill>
            <a:srgbClr val="E0EEF5"/>
          </a:solidFill>
          <a:ln w="12700">
            <a:solidFill>
              <a:srgbClr val="C8D5DF"/>
            </a:solidFill>
            <a:prstDash val="solid"/>
          </a:ln>
        </p:spPr>
      </p:sp>
      <p:sp>
        <p:nvSpPr>
          <p:cNvPr id="35" name="Text 33"/>
          <p:cNvSpPr/>
          <p:nvPr/>
        </p:nvSpPr>
        <p:spPr>
          <a:xfrm>
            <a:off x="6565392" y="4297680"/>
            <a:ext cx="2194560" cy="502920"/>
          </a:xfrm>
          <a:prstGeom prst="rect">
            <a:avLst/>
          </a:prstGeom>
          <a:noFill/>
          <a:ln/>
        </p:spPr>
        <p:txBody>
          <a:bodyPr wrap="square" rtlCol="0" anchor="ctr"/>
          <a:lstStyle/>
          <a:p>
            <a:pPr indent="0" marL="0">
              <a:buNone/>
            </a:pPr>
            <a:r>
              <a:rPr lang="en-US" sz="1300" b="1" dirty="0">
                <a:solidFill>
                  <a:srgbClr val="21295C"/>
                </a:solidFill>
                <a:latin typeface="Calibri" pitchFamily="34" charset="0"/>
                <a:ea typeface="Calibri" pitchFamily="34" charset="-122"/>
                <a:cs typeface="Calibri" pitchFamily="34" charset="-120"/>
              </a:rPr>
              <a:t>Vote + cooldown</a:t>
            </a:r>
            <a:endParaRPr lang="en-US" sz="1300" dirty="0"/>
          </a:p>
        </p:txBody>
      </p:sp>
      <p:sp>
        <p:nvSpPr>
          <p:cNvPr id="36" name="Text 34"/>
          <p:cNvSpPr/>
          <p:nvPr/>
        </p:nvSpPr>
        <p:spPr>
          <a:xfrm>
            <a:off x="8686800" y="4297680"/>
            <a:ext cx="3063240" cy="502920"/>
          </a:xfrm>
          <a:prstGeom prst="rect">
            <a:avLst/>
          </a:prstGeom>
          <a:noFill/>
          <a:ln/>
        </p:spPr>
        <p:txBody>
          <a:bodyPr wrap="square" rtlCol="0" anchor="ctr"/>
          <a:lstStyle/>
          <a:p>
            <a:pPr indent="0" marL="0">
              <a:buNone/>
            </a:pPr>
            <a:r>
              <a:rPr lang="en-US" sz="1100" dirty="0">
                <a:solidFill>
                  <a:srgbClr val="425568"/>
                </a:solidFill>
                <a:latin typeface="Calibri" pitchFamily="34" charset="0"/>
                <a:ea typeface="Calibri" pitchFamily="34" charset="-122"/>
                <a:cs typeface="Calibri" pitchFamily="34" charset="-120"/>
              </a:rPr>
              <a:t>argmax · 0.5 thr · 500 ms</a:t>
            </a:r>
            <a:endParaRPr lang="en-US" sz="1100" dirty="0"/>
          </a:p>
        </p:txBody>
      </p:sp>
      <p:sp>
        <p:nvSpPr>
          <p:cNvPr id="37" name="Text 35"/>
          <p:cNvSpPr/>
          <p:nvPr/>
        </p:nvSpPr>
        <p:spPr>
          <a:xfrm>
            <a:off x="8869680" y="4791456"/>
            <a:ext cx="548640" cy="182880"/>
          </a:xfrm>
          <a:prstGeom prst="rect">
            <a:avLst/>
          </a:prstGeom>
          <a:noFill/>
          <a:ln/>
        </p:spPr>
        <p:txBody>
          <a:bodyPr wrap="square" rtlCol="0" anchor="ctr"/>
          <a:lstStyle/>
          <a:p>
            <a:pPr algn="ctr" indent="0" marL="0">
              <a:buNone/>
            </a:pPr>
            <a:r>
              <a:rPr lang="en-US" sz="1000" dirty="0">
                <a:solidFill>
                  <a:srgbClr val="1C7293"/>
                </a:solidFill>
                <a:latin typeface="Calibri" pitchFamily="34" charset="0"/>
                <a:ea typeface="Calibri" pitchFamily="34" charset="-122"/>
                <a:cs typeface="Calibri" pitchFamily="34" charset="-120"/>
              </a:rPr>
              <a:t>▼</a:t>
            </a:r>
            <a:endParaRPr lang="en-US" sz="1000" dirty="0"/>
          </a:p>
        </p:txBody>
      </p:sp>
      <p:sp>
        <p:nvSpPr>
          <p:cNvPr id="38" name="Shape 36"/>
          <p:cNvSpPr/>
          <p:nvPr/>
        </p:nvSpPr>
        <p:spPr>
          <a:xfrm>
            <a:off x="6400800" y="4956048"/>
            <a:ext cx="5486400" cy="603504"/>
          </a:xfrm>
          <a:prstGeom prst="roundRect">
            <a:avLst>
              <a:gd name="adj" fmla="val 12121"/>
            </a:avLst>
          </a:prstGeom>
          <a:solidFill>
            <a:srgbClr val="00C2A8"/>
          </a:solidFill>
          <a:ln w="12700">
            <a:solidFill>
              <a:srgbClr val="00C2A8"/>
            </a:solidFill>
            <a:prstDash val="solid"/>
          </a:ln>
        </p:spPr>
      </p:sp>
      <p:sp>
        <p:nvSpPr>
          <p:cNvPr id="39" name="Text 37"/>
          <p:cNvSpPr/>
          <p:nvPr/>
        </p:nvSpPr>
        <p:spPr>
          <a:xfrm>
            <a:off x="6565392" y="5010912"/>
            <a:ext cx="2194560" cy="502920"/>
          </a:xfrm>
          <a:prstGeom prst="rect">
            <a:avLst/>
          </a:prstGeom>
          <a:noFill/>
          <a:ln/>
        </p:spPr>
        <p:txBody>
          <a:bodyPr wrap="square" rtlCol="0" anchor="ctr"/>
          <a:lstStyle/>
          <a:p>
            <a:pPr indent="0" marL="0">
              <a:buNone/>
            </a:pPr>
            <a:r>
              <a:rPr lang="en-US" sz="1300" b="1" dirty="0">
                <a:solidFill>
                  <a:srgbClr val="0B1A2A"/>
                </a:solidFill>
                <a:latin typeface="Calibri" pitchFamily="34" charset="0"/>
                <a:ea typeface="Calibri" pitchFamily="34" charset="-122"/>
                <a:cs typeface="Calibri" pitchFamily="34" charset="-120"/>
              </a:rPr>
              <a:t>Packet 233 B</a:t>
            </a:r>
            <a:endParaRPr lang="en-US" sz="1300" dirty="0"/>
          </a:p>
        </p:txBody>
      </p:sp>
      <p:sp>
        <p:nvSpPr>
          <p:cNvPr id="40" name="Text 38"/>
          <p:cNvSpPr/>
          <p:nvPr/>
        </p:nvSpPr>
        <p:spPr>
          <a:xfrm>
            <a:off x="8686800" y="5010912"/>
            <a:ext cx="3063240" cy="502920"/>
          </a:xfrm>
          <a:prstGeom prst="rect">
            <a:avLst/>
          </a:prstGeom>
          <a:noFill/>
          <a:ln/>
        </p:spPr>
        <p:txBody>
          <a:bodyPr wrap="square" rtlCol="0" anchor="ctr"/>
          <a:lstStyle/>
          <a:p>
            <a:pPr indent="0" marL="0">
              <a:buNone/>
            </a:pPr>
            <a:r>
              <a:rPr lang="en-US" sz="1100" dirty="0">
                <a:solidFill>
                  <a:srgbClr val="0B1A2A"/>
                </a:solidFill>
                <a:latin typeface="Calibri" pitchFamily="34" charset="0"/>
                <a:ea typeface="Calibri" pitchFamily="34" charset="-122"/>
                <a:cs typeface="Calibri" pitchFamily="34" charset="-120"/>
              </a:rPr>
              <a:t>@ 24 Hz · 5.6 KB/s</a:t>
            </a:r>
            <a:endParaRPr lang="en-US" sz="1100" dirty="0"/>
          </a:p>
        </p:txBody>
      </p:sp>
      <p:sp>
        <p:nvSpPr>
          <p:cNvPr id="41" name="Text 39"/>
          <p:cNvSpPr/>
          <p:nvPr/>
        </p:nvSpPr>
        <p:spPr>
          <a:xfrm>
            <a:off x="8869680" y="5504688"/>
            <a:ext cx="548640" cy="182880"/>
          </a:xfrm>
          <a:prstGeom prst="rect">
            <a:avLst/>
          </a:prstGeom>
          <a:noFill/>
          <a:ln/>
        </p:spPr>
        <p:txBody>
          <a:bodyPr wrap="square" rtlCol="0" anchor="ctr"/>
          <a:lstStyle/>
          <a:p>
            <a:pPr algn="ctr" indent="0" marL="0">
              <a:buNone/>
            </a:pPr>
            <a:r>
              <a:rPr lang="en-US" sz="1000" dirty="0">
                <a:solidFill>
                  <a:srgbClr val="1C7293"/>
                </a:solidFill>
                <a:latin typeface="Calibri" pitchFamily="34" charset="0"/>
                <a:ea typeface="Calibri" pitchFamily="34" charset="-122"/>
                <a:cs typeface="Calibri" pitchFamily="34" charset="-120"/>
              </a:rPr>
              <a:t>▼</a:t>
            </a:r>
            <a:endParaRPr lang="en-US" sz="1000" dirty="0"/>
          </a:p>
        </p:txBody>
      </p:sp>
      <p:sp>
        <p:nvSpPr>
          <p:cNvPr id="42" name="Shape 40"/>
          <p:cNvSpPr/>
          <p:nvPr/>
        </p:nvSpPr>
        <p:spPr>
          <a:xfrm>
            <a:off x="6400800" y="5669280"/>
            <a:ext cx="5486400" cy="603504"/>
          </a:xfrm>
          <a:prstGeom prst="roundRect">
            <a:avLst>
              <a:gd name="adj" fmla="val 12121"/>
            </a:avLst>
          </a:prstGeom>
          <a:solidFill>
            <a:srgbClr val="EFE6E0"/>
          </a:solidFill>
          <a:ln w="12700">
            <a:solidFill>
              <a:srgbClr val="C8D5DF"/>
            </a:solidFill>
            <a:prstDash val="solid"/>
          </a:ln>
        </p:spPr>
      </p:sp>
      <p:sp>
        <p:nvSpPr>
          <p:cNvPr id="43" name="Text 41"/>
          <p:cNvSpPr/>
          <p:nvPr/>
        </p:nvSpPr>
        <p:spPr>
          <a:xfrm>
            <a:off x="6565392" y="5724144"/>
            <a:ext cx="2194560" cy="502920"/>
          </a:xfrm>
          <a:prstGeom prst="rect">
            <a:avLst/>
          </a:prstGeom>
          <a:noFill/>
          <a:ln/>
        </p:spPr>
        <p:txBody>
          <a:bodyPr wrap="square" rtlCol="0" anchor="ctr"/>
          <a:lstStyle/>
          <a:p>
            <a:pPr indent="0" marL="0">
              <a:buNone/>
            </a:pPr>
            <a:r>
              <a:rPr lang="en-US" sz="1300" b="1" dirty="0">
                <a:solidFill>
                  <a:srgbClr val="21295C"/>
                </a:solidFill>
                <a:latin typeface="Calibri" pitchFamily="34" charset="0"/>
                <a:ea typeface="Calibri" pitchFamily="34" charset="-122"/>
                <a:cs typeface="Calibri" pitchFamily="34" charset="-120"/>
              </a:rPr>
              <a:t>Peer avatars</a:t>
            </a:r>
            <a:endParaRPr lang="en-US" sz="1300" dirty="0"/>
          </a:p>
        </p:txBody>
      </p:sp>
      <p:sp>
        <p:nvSpPr>
          <p:cNvPr id="44" name="Text 42"/>
          <p:cNvSpPr/>
          <p:nvPr/>
        </p:nvSpPr>
        <p:spPr>
          <a:xfrm>
            <a:off x="8686800" y="5724144"/>
            <a:ext cx="3063240" cy="502920"/>
          </a:xfrm>
          <a:prstGeom prst="rect">
            <a:avLst/>
          </a:prstGeom>
          <a:noFill/>
          <a:ln/>
        </p:spPr>
        <p:txBody>
          <a:bodyPr wrap="square" rtlCol="0" anchor="ctr"/>
          <a:lstStyle/>
          <a:p>
            <a:pPr indent="0" marL="0">
              <a:buNone/>
            </a:pPr>
            <a:r>
              <a:rPr lang="en-US" sz="1100" dirty="0">
                <a:solidFill>
                  <a:srgbClr val="425568"/>
                </a:solidFill>
                <a:latin typeface="Calibri" pitchFamily="34" charset="0"/>
                <a:ea typeface="Calibri" pitchFamily="34" charset="-122"/>
                <a:cs typeface="Calibri" pitchFamily="34" charset="-120"/>
              </a:rPr>
              <a:t>Three.js VRM, mood sync</a:t>
            </a:r>
            <a:endParaRPr lang="en-US" sz="1100" dirty="0"/>
          </a:p>
        </p:txBody>
      </p:sp>
      <p:sp>
        <p:nvSpPr>
          <p:cNvPr id="45" name="Text 43"/>
          <p:cNvSpPr/>
          <p:nvPr/>
        </p:nvSpPr>
        <p:spPr>
          <a:xfrm>
            <a:off x="10972800" y="6446520"/>
            <a:ext cx="1005840" cy="274320"/>
          </a:xfrm>
          <a:prstGeom prst="rect">
            <a:avLst/>
          </a:prstGeom>
          <a:noFill/>
          <a:ln/>
        </p:spPr>
        <p:txBody>
          <a:bodyPr wrap="square" rtlCol="0" anchor="ctr"/>
          <a:lstStyle/>
          <a:p>
            <a:pPr algn="r" indent="0" marL="0">
              <a:buNone/>
            </a:pPr>
            <a:r>
              <a:rPr lang="en-US" sz="1000" dirty="0">
                <a:solidFill>
                  <a:srgbClr val="8FA3BF"/>
                </a:solidFill>
                <a:latin typeface="Calibri" pitchFamily="34" charset="0"/>
                <a:ea typeface="Calibri" pitchFamily="34" charset="-122"/>
                <a:cs typeface="Calibri" pitchFamily="34" charset="-120"/>
              </a:rPr>
              <a:t>3 / 9</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AFC"/>
        </a:solidFill>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065A82"/>
          </a:solidFill>
          <a:ln/>
        </p:spPr>
      </p:sp>
      <p:sp>
        <p:nvSpPr>
          <p:cNvPr id="3" name="Text 1"/>
          <p:cNvSpPr/>
          <p:nvPr/>
        </p:nvSpPr>
        <p:spPr>
          <a:xfrm>
            <a:off x="411480" y="274320"/>
            <a:ext cx="10972800" cy="365760"/>
          </a:xfrm>
          <a:prstGeom prst="rect">
            <a:avLst/>
          </a:prstGeom>
          <a:noFill/>
          <a:ln/>
        </p:spPr>
        <p:txBody>
          <a:bodyPr wrap="square" rtlCol="0" anchor="ctr"/>
          <a:lstStyle/>
          <a:p>
            <a:pPr indent="0" marL="0">
              <a:buNone/>
            </a:pPr>
            <a:r>
              <a:rPr lang="en-US" sz="1300" b="1" dirty="0">
                <a:solidFill>
                  <a:srgbClr val="065A82"/>
                </a:solidFill>
                <a:latin typeface="Calibri" pitchFamily="34" charset="0"/>
                <a:ea typeface="Calibri" pitchFamily="34" charset="-122"/>
                <a:cs typeface="Calibri" pitchFamily="34" charset="-120"/>
              </a:rPr>
              <a:t>03 · DATA + MODEL</a:t>
            </a:r>
            <a:endParaRPr lang="en-US" sz="1300" dirty="0"/>
          </a:p>
        </p:txBody>
      </p:sp>
      <p:sp>
        <p:nvSpPr>
          <p:cNvPr id="4" name="Text 2"/>
          <p:cNvSpPr/>
          <p:nvPr/>
        </p:nvSpPr>
        <p:spPr>
          <a:xfrm>
            <a:off x="548640" y="777240"/>
            <a:ext cx="11338560" cy="594360"/>
          </a:xfrm>
          <a:prstGeom prst="rect">
            <a:avLst/>
          </a:prstGeom>
          <a:noFill/>
          <a:ln/>
        </p:spPr>
        <p:txBody>
          <a:bodyPr wrap="square" rtlCol="0" anchor="ctr"/>
          <a:lstStyle/>
          <a:p>
            <a:pPr indent="0" marL="0">
              <a:buNone/>
            </a:pPr>
            <a:r>
              <a:rPr lang="en-US" sz="2600" b="1" dirty="0">
                <a:solidFill>
                  <a:srgbClr val="21295C"/>
                </a:solidFill>
                <a:latin typeface="Georgia" pitchFamily="34" charset="0"/>
                <a:ea typeface="Georgia" pitchFamily="34" charset="-122"/>
                <a:cs typeface="Georgia" pitchFamily="34" charset="-120"/>
              </a:rPr>
              <a:t>Eight actions  ·  32 168 params  ·  99.05 % test accuracy</a:t>
            </a:r>
            <a:endParaRPr lang="en-US" sz="2600" dirty="0"/>
          </a:p>
        </p:txBody>
      </p:sp>
      <p:sp>
        <p:nvSpPr>
          <p:cNvPr id="5" name="Text 3"/>
          <p:cNvSpPr/>
          <p:nvPr/>
        </p:nvSpPr>
        <p:spPr>
          <a:xfrm>
            <a:off x="548640" y="1463040"/>
            <a:ext cx="5486400" cy="292608"/>
          </a:xfrm>
          <a:prstGeom prst="rect">
            <a:avLst/>
          </a:prstGeom>
          <a:noFill/>
          <a:ln/>
        </p:spPr>
        <p:txBody>
          <a:bodyPr wrap="square" rtlCol="0" anchor="ctr"/>
          <a:lstStyle/>
          <a:p>
            <a:pPr indent="0" marL="0">
              <a:buNone/>
            </a:pPr>
            <a:r>
              <a:rPr lang="en-US" sz="1200" b="1" dirty="0">
                <a:solidFill>
                  <a:srgbClr val="065A82"/>
                </a:solidFill>
                <a:latin typeface="Calibri" pitchFamily="34" charset="0"/>
                <a:ea typeface="Calibri" pitchFamily="34" charset="-122"/>
                <a:cs typeface="Calibri" pitchFamily="34" charset="-120"/>
              </a:rPr>
              <a:t>Dataset</a:t>
            </a:r>
            <a:endParaRPr lang="en-US" sz="1200" dirty="0"/>
          </a:p>
        </p:txBody>
      </p:sp>
      <p:sp>
        <p:nvSpPr>
          <p:cNvPr id="6" name="Shape 4"/>
          <p:cNvSpPr/>
          <p:nvPr/>
        </p:nvSpPr>
        <p:spPr>
          <a:xfrm>
            <a:off x="548640" y="1783080"/>
            <a:ext cx="5486400" cy="1097280"/>
          </a:xfrm>
          <a:prstGeom prst="roundRect">
            <a:avLst>
              <a:gd name="adj" fmla="val 8333"/>
            </a:avLst>
          </a:prstGeom>
          <a:solidFill>
            <a:srgbClr val="F0F4F8"/>
          </a:solidFill>
          <a:ln w="12700">
            <a:solidFill>
              <a:srgbClr val="D9E1EA"/>
            </a:solidFill>
            <a:prstDash val="solid"/>
          </a:ln>
        </p:spPr>
      </p:sp>
      <p:sp>
        <p:nvSpPr>
          <p:cNvPr id="7" name="Text 5"/>
          <p:cNvSpPr/>
          <p:nvPr/>
        </p:nvSpPr>
        <p:spPr>
          <a:xfrm>
            <a:off x="777240" y="1920240"/>
            <a:ext cx="5212080" cy="822960"/>
          </a:xfrm>
          <a:prstGeom prst="rect">
            <a:avLst/>
          </a:prstGeom>
          <a:noFill/>
          <a:ln/>
        </p:spPr>
        <p:txBody>
          <a:bodyPr wrap="square" rtlCol="0" anchor="ctr"/>
          <a:lstStyle/>
          <a:p>
            <a:pPr indent="0" marL="0">
              <a:buNone/>
            </a:pPr>
            <a:r>
              <a:rPr lang="en-US" sz="2800" b="1" dirty="0">
                <a:solidFill>
                  <a:srgbClr val="065A82"/>
                </a:solidFill>
                <a:latin typeface="Calibri" pitchFamily="34" charset="0"/>
                <a:ea typeface="Calibri" pitchFamily="34" charset="-122"/>
                <a:cs typeface="Calibri" pitchFamily="34" charset="-120"/>
              </a:rPr>
              <a:t>600 </a:t>
            </a:r>
            <a:pPr indent="0" marL="0">
              <a:buNone/>
            </a:pPr>
            <a:r>
              <a:rPr lang="en-US" sz="1400" dirty="0">
                <a:solidFill>
                  <a:srgbClr val="425568"/>
                </a:solidFill>
                <a:latin typeface="Calibri" pitchFamily="34" charset="0"/>
                <a:ea typeface="Calibri" pitchFamily="34" charset="-122"/>
                <a:cs typeface="Calibri" pitchFamily="34" charset="-120"/>
              </a:rPr>
              <a:t>sessions  ·  </a:t>
            </a:r>
            <a:pPr indent="0" marL="0">
              <a:buNone/>
            </a:pPr>
            <a:r>
              <a:rPr lang="en-US" sz="2800" b="1" dirty="0">
                <a:solidFill>
                  <a:srgbClr val="065A82"/>
                </a:solidFill>
                <a:latin typeface="Calibri" pitchFamily="34" charset="0"/>
                <a:ea typeface="Calibri" pitchFamily="34" charset="-122"/>
                <a:cs typeface="Calibri" pitchFamily="34" charset="-120"/>
              </a:rPr>
              <a:t>8 </a:t>
            </a:r>
            <a:pPr indent="0" marL="0">
              <a:buNone/>
            </a:pPr>
            <a:r>
              <a:rPr lang="en-US" sz="1400" dirty="0">
                <a:solidFill>
                  <a:srgbClr val="425568"/>
                </a:solidFill>
                <a:latin typeface="Calibri" pitchFamily="34" charset="0"/>
                <a:ea typeface="Calibri" pitchFamily="34" charset="-122"/>
                <a:cs typeface="Calibri" pitchFamily="34" charset="-120"/>
              </a:rPr>
              <a:t>classes  ·  window 30 frames @ 30 fps</a:t>
            </a:r>
            <a:endParaRPr lang="en-US" sz="1400" dirty="0"/>
          </a:p>
        </p:txBody>
      </p:sp>
      <p:sp>
        <p:nvSpPr>
          <p:cNvPr id="8" name="Shape 6"/>
          <p:cNvSpPr/>
          <p:nvPr/>
        </p:nvSpPr>
        <p:spPr>
          <a:xfrm>
            <a:off x="548640" y="3063240"/>
            <a:ext cx="1280160" cy="365760"/>
          </a:xfrm>
          <a:prstGeom prst="roundRect">
            <a:avLst>
              <a:gd name="adj" fmla="val 50000"/>
            </a:avLst>
          </a:prstGeom>
          <a:solidFill>
            <a:srgbClr val="21295C"/>
          </a:solidFill>
          <a:ln w="12700">
            <a:solidFill>
              <a:srgbClr val="21295C"/>
            </a:solidFill>
            <a:prstDash val="solid"/>
          </a:ln>
        </p:spPr>
      </p:sp>
      <p:sp>
        <p:nvSpPr>
          <p:cNvPr id="9" name="Text 7"/>
          <p:cNvSpPr/>
          <p:nvPr/>
        </p:nvSpPr>
        <p:spPr>
          <a:xfrm>
            <a:off x="548640" y="3063240"/>
            <a:ext cx="1280160" cy="365760"/>
          </a:xfrm>
          <a:prstGeom prst="rect">
            <a:avLst/>
          </a:prstGeom>
          <a:noFill/>
          <a:ln/>
        </p:spPr>
        <p:txBody>
          <a:bodyPr wrap="square" rtlCol="0" anchor="ctr"/>
          <a:lstStyle/>
          <a:p>
            <a:pPr algn="ctr" indent="0" marL="0">
              <a:buNone/>
            </a:pPr>
            <a:r>
              <a:rPr lang="en-US" sz="1100" b="1" dirty="0">
                <a:solidFill>
                  <a:srgbClr val="CADCFC"/>
                </a:solidFill>
                <a:latin typeface="Calibri" pitchFamily="34" charset="0"/>
                <a:ea typeface="Calibri" pitchFamily="34" charset="-122"/>
                <a:cs typeface="Calibri" pitchFamily="34" charset="-120"/>
              </a:rPr>
              <a:t>neutral</a:t>
            </a:r>
            <a:endParaRPr lang="en-US" sz="1100" dirty="0"/>
          </a:p>
        </p:txBody>
      </p:sp>
      <p:sp>
        <p:nvSpPr>
          <p:cNvPr id="10" name="Shape 8"/>
          <p:cNvSpPr/>
          <p:nvPr/>
        </p:nvSpPr>
        <p:spPr>
          <a:xfrm>
            <a:off x="1920240" y="3063240"/>
            <a:ext cx="1280160" cy="365760"/>
          </a:xfrm>
          <a:prstGeom prst="roundRect">
            <a:avLst>
              <a:gd name="adj" fmla="val 50000"/>
            </a:avLst>
          </a:prstGeom>
          <a:solidFill>
            <a:srgbClr val="21295C"/>
          </a:solidFill>
          <a:ln w="12700">
            <a:solidFill>
              <a:srgbClr val="21295C"/>
            </a:solidFill>
            <a:prstDash val="solid"/>
          </a:ln>
        </p:spPr>
      </p:sp>
      <p:sp>
        <p:nvSpPr>
          <p:cNvPr id="11" name="Text 9"/>
          <p:cNvSpPr/>
          <p:nvPr/>
        </p:nvSpPr>
        <p:spPr>
          <a:xfrm>
            <a:off x="1920240" y="3063240"/>
            <a:ext cx="1280160" cy="365760"/>
          </a:xfrm>
          <a:prstGeom prst="rect">
            <a:avLst/>
          </a:prstGeom>
          <a:noFill/>
          <a:ln/>
        </p:spPr>
        <p:txBody>
          <a:bodyPr wrap="square" rtlCol="0" anchor="ctr"/>
          <a:lstStyle/>
          <a:p>
            <a:pPr algn="ctr" indent="0" marL="0">
              <a:buNone/>
            </a:pPr>
            <a:r>
              <a:rPr lang="en-US" sz="1100" b="1" dirty="0">
                <a:solidFill>
                  <a:srgbClr val="CADCFC"/>
                </a:solidFill>
                <a:latin typeface="Calibri" pitchFamily="34" charset="0"/>
                <a:ea typeface="Calibri" pitchFamily="34" charset="-122"/>
                <a:cs typeface="Calibri" pitchFamily="34" charset="-120"/>
              </a:rPr>
              <a:t>wink_L</a:t>
            </a:r>
            <a:endParaRPr lang="en-US" sz="1100" dirty="0"/>
          </a:p>
        </p:txBody>
      </p:sp>
      <p:sp>
        <p:nvSpPr>
          <p:cNvPr id="12" name="Shape 10"/>
          <p:cNvSpPr/>
          <p:nvPr/>
        </p:nvSpPr>
        <p:spPr>
          <a:xfrm>
            <a:off x="3291840" y="3063240"/>
            <a:ext cx="1280160" cy="365760"/>
          </a:xfrm>
          <a:prstGeom prst="roundRect">
            <a:avLst>
              <a:gd name="adj" fmla="val 50000"/>
            </a:avLst>
          </a:prstGeom>
          <a:solidFill>
            <a:srgbClr val="21295C"/>
          </a:solidFill>
          <a:ln w="12700">
            <a:solidFill>
              <a:srgbClr val="21295C"/>
            </a:solidFill>
            <a:prstDash val="solid"/>
          </a:ln>
        </p:spPr>
      </p:sp>
      <p:sp>
        <p:nvSpPr>
          <p:cNvPr id="13" name="Text 11"/>
          <p:cNvSpPr/>
          <p:nvPr/>
        </p:nvSpPr>
        <p:spPr>
          <a:xfrm>
            <a:off x="3291840" y="3063240"/>
            <a:ext cx="1280160" cy="365760"/>
          </a:xfrm>
          <a:prstGeom prst="rect">
            <a:avLst/>
          </a:prstGeom>
          <a:noFill/>
          <a:ln/>
        </p:spPr>
        <p:txBody>
          <a:bodyPr wrap="square" rtlCol="0" anchor="ctr"/>
          <a:lstStyle/>
          <a:p>
            <a:pPr algn="ctr" indent="0" marL="0">
              <a:buNone/>
            </a:pPr>
            <a:r>
              <a:rPr lang="en-US" sz="1100" b="1" dirty="0">
                <a:solidFill>
                  <a:srgbClr val="CADCFC"/>
                </a:solidFill>
                <a:latin typeface="Calibri" pitchFamily="34" charset="0"/>
                <a:ea typeface="Calibri" pitchFamily="34" charset="-122"/>
                <a:cs typeface="Calibri" pitchFamily="34" charset="-120"/>
              </a:rPr>
              <a:t>wink_R</a:t>
            </a:r>
            <a:endParaRPr lang="en-US" sz="1100" dirty="0"/>
          </a:p>
        </p:txBody>
      </p:sp>
      <p:sp>
        <p:nvSpPr>
          <p:cNvPr id="14" name="Shape 12"/>
          <p:cNvSpPr/>
          <p:nvPr/>
        </p:nvSpPr>
        <p:spPr>
          <a:xfrm>
            <a:off x="4663440" y="3063240"/>
            <a:ext cx="1280160" cy="365760"/>
          </a:xfrm>
          <a:prstGeom prst="roundRect">
            <a:avLst>
              <a:gd name="adj" fmla="val 50000"/>
            </a:avLst>
          </a:prstGeom>
          <a:solidFill>
            <a:srgbClr val="21295C"/>
          </a:solidFill>
          <a:ln w="12700">
            <a:solidFill>
              <a:srgbClr val="21295C"/>
            </a:solidFill>
            <a:prstDash val="solid"/>
          </a:ln>
        </p:spPr>
      </p:sp>
      <p:sp>
        <p:nvSpPr>
          <p:cNvPr id="15" name="Text 13"/>
          <p:cNvSpPr/>
          <p:nvPr/>
        </p:nvSpPr>
        <p:spPr>
          <a:xfrm>
            <a:off x="4663440" y="3063240"/>
            <a:ext cx="1280160" cy="365760"/>
          </a:xfrm>
          <a:prstGeom prst="rect">
            <a:avLst/>
          </a:prstGeom>
          <a:noFill/>
          <a:ln/>
        </p:spPr>
        <p:txBody>
          <a:bodyPr wrap="square" rtlCol="0" anchor="ctr"/>
          <a:lstStyle/>
          <a:p>
            <a:pPr algn="ctr" indent="0" marL="0">
              <a:buNone/>
            </a:pPr>
            <a:r>
              <a:rPr lang="en-US" sz="1100" b="1" dirty="0">
                <a:solidFill>
                  <a:srgbClr val="CADCFC"/>
                </a:solidFill>
                <a:latin typeface="Calibri" pitchFamily="34" charset="0"/>
                <a:ea typeface="Calibri" pitchFamily="34" charset="-122"/>
                <a:cs typeface="Calibri" pitchFamily="34" charset="-120"/>
              </a:rPr>
              <a:t>smile_big</a:t>
            </a:r>
            <a:endParaRPr lang="en-US" sz="1100" dirty="0"/>
          </a:p>
        </p:txBody>
      </p:sp>
      <p:sp>
        <p:nvSpPr>
          <p:cNvPr id="16" name="Shape 14"/>
          <p:cNvSpPr/>
          <p:nvPr/>
        </p:nvSpPr>
        <p:spPr>
          <a:xfrm>
            <a:off x="548640" y="3520440"/>
            <a:ext cx="1280160" cy="365760"/>
          </a:xfrm>
          <a:prstGeom prst="roundRect">
            <a:avLst>
              <a:gd name="adj" fmla="val 50000"/>
            </a:avLst>
          </a:prstGeom>
          <a:solidFill>
            <a:srgbClr val="21295C"/>
          </a:solidFill>
          <a:ln w="12700">
            <a:solidFill>
              <a:srgbClr val="21295C"/>
            </a:solidFill>
            <a:prstDash val="solid"/>
          </a:ln>
        </p:spPr>
      </p:sp>
      <p:sp>
        <p:nvSpPr>
          <p:cNvPr id="17" name="Text 15"/>
          <p:cNvSpPr/>
          <p:nvPr/>
        </p:nvSpPr>
        <p:spPr>
          <a:xfrm>
            <a:off x="548640" y="3520440"/>
            <a:ext cx="1280160" cy="365760"/>
          </a:xfrm>
          <a:prstGeom prst="rect">
            <a:avLst/>
          </a:prstGeom>
          <a:noFill/>
          <a:ln/>
        </p:spPr>
        <p:txBody>
          <a:bodyPr wrap="square" rtlCol="0" anchor="ctr"/>
          <a:lstStyle/>
          <a:p>
            <a:pPr algn="ctr" indent="0" marL="0">
              <a:buNone/>
            </a:pPr>
            <a:r>
              <a:rPr lang="en-US" sz="1100" b="1" dirty="0">
                <a:solidFill>
                  <a:srgbClr val="CADCFC"/>
                </a:solidFill>
                <a:latin typeface="Calibri" pitchFamily="34" charset="0"/>
                <a:ea typeface="Calibri" pitchFamily="34" charset="-122"/>
                <a:cs typeface="Calibri" pitchFamily="34" charset="-120"/>
              </a:rPr>
              <a:t>surprise</a:t>
            </a:r>
            <a:endParaRPr lang="en-US" sz="1100" dirty="0"/>
          </a:p>
        </p:txBody>
      </p:sp>
      <p:sp>
        <p:nvSpPr>
          <p:cNvPr id="18" name="Shape 16"/>
          <p:cNvSpPr/>
          <p:nvPr/>
        </p:nvSpPr>
        <p:spPr>
          <a:xfrm>
            <a:off x="1920240" y="3520440"/>
            <a:ext cx="1280160" cy="365760"/>
          </a:xfrm>
          <a:prstGeom prst="roundRect">
            <a:avLst>
              <a:gd name="adj" fmla="val 50000"/>
            </a:avLst>
          </a:prstGeom>
          <a:solidFill>
            <a:srgbClr val="21295C"/>
          </a:solidFill>
          <a:ln w="12700">
            <a:solidFill>
              <a:srgbClr val="21295C"/>
            </a:solidFill>
            <a:prstDash val="solid"/>
          </a:ln>
        </p:spPr>
      </p:sp>
      <p:sp>
        <p:nvSpPr>
          <p:cNvPr id="19" name="Text 17"/>
          <p:cNvSpPr/>
          <p:nvPr/>
        </p:nvSpPr>
        <p:spPr>
          <a:xfrm>
            <a:off x="1920240" y="3520440"/>
            <a:ext cx="1280160" cy="365760"/>
          </a:xfrm>
          <a:prstGeom prst="rect">
            <a:avLst/>
          </a:prstGeom>
          <a:noFill/>
          <a:ln/>
        </p:spPr>
        <p:txBody>
          <a:bodyPr wrap="square" rtlCol="0" anchor="ctr"/>
          <a:lstStyle/>
          <a:p>
            <a:pPr algn="ctr" indent="0" marL="0">
              <a:buNone/>
            </a:pPr>
            <a:r>
              <a:rPr lang="en-US" sz="1100" b="1" dirty="0">
                <a:solidFill>
                  <a:srgbClr val="CADCFC"/>
                </a:solidFill>
                <a:latin typeface="Calibri" pitchFamily="34" charset="0"/>
                <a:ea typeface="Calibri" pitchFamily="34" charset="-122"/>
                <a:cs typeface="Calibri" pitchFamily="34" charset="-120"/>
              </a:rPr>
              <a:t>frown</a:t>
            </a:r>
            <a:endParaRPr lang="en-US" sz="1100" dirty="0"/>
          </a:p>
        </p:txBody>
      </p:sp>
      <p:sp>
        <p:nvSpPr>
          <p:cNvPr id="20" name="Shape 18"/>
          <p:cNvSpPr/>
          <p:nvPr/>
        </p:nvSpPr>
        <p:spPr>
          <a:xfrm>
            <a:off x="3291840" y="3520440"/>
            <a:ext cx="1280160" cy="365760"/>
          </a:xfrm>
          <a:prstGeom prst="roundRect">
            <a:avLst>
              <a:gd name="adj" fmla="val 50000"/>
            </a:avLst>
          </a:prstGeom>
          <a:solidFill>
            <a:srgbClr val="21295C"/>
          </a:solidFill>
          <a:ln w="12700">
            <a:solidFill>
              <a:srgbClr val="21295C"/>
            </a:solidFill>
            <a:prstDash val="solid"/>
          </a:ln>
        </p:spPr>
      </p:sp>
      <p:sp>
        <p:nvSpPr>
          <p:cNvPr id="21" name="Text 19"/>
          <p:cNvSpPr/>
          <p:nvPr/>
        </p:nvSpPr>
        <p:spPr>
          <a:xfrm>
            <a:off x="3291840" y="3520440"/>
            <a:ext cx="1280160" cy="365760"/>
          </a:xfrm>
          <a:prstGeom prst="rect">
            <a:avLst/>
          </a:prstGeom>
          <a:noFill/>
          <a:ln/>
        </p:spPr>
        <p:txBody>
          <a:bodyPr wrap="square" rtlCol="0" anchor="ctr"/>
          <a:lstStyle/>
          <a:p>
            <a:pPr algn="ctr" indent="0" marL="0">
              <a:buNone/>
            </a:pPr>
            <a:r>
              <a:rPr lang="en-US" sz="1100" b="1" dirty="0">
                <a:solidFill>
                  <a:srgbClr val="CADCFC"/>
                </a:solidFill>
                <a:latin typeface="Calibri" pitchFamily="34" charset="0"/>
                <a:ea typeface="Calibri" pitchFamily="34" charset="-122"/>
                <a:cs typeface="Calibri" pitchFamily="34" charset="-120"/>
              </a:rPr>
              <a:t>mouth_o</a:t>
            </a:r>
            <a:endParaRPr lang="en-US" sz="1100" dirty="0"/>
          </a:p>
        </p:txBody>
      </p:sp>
      <p:sp>
        <p:nvSpPr>
          <p:cNvPr id="22" name="Shape 20"/>
          <p:cNvSpPr/>
          <p:nvPr/>
        </p:nvSpPr>
        <p:spPr>
          <a:xfrm>
            <a:off x="4663440" y="3520440"/>
            <a:ext cx="1280160" cy="365760"/>
          </a:xfrm>
          <a:prstGeom prst="roundRect">
            <a:avLst>
              <a:gd name="adj" fmla="val 50000"/>
            </a:avLst>
          </a:prstGeom>
          <a:solidFill>
            <a:srgbClr val="21295C"/>
          </a:solidFill>
          <a:ln w="12700">
            <a:solidFill>
              <a:srgbClr val="21295C"/>
            </a:solidFill>
            <a:prstDash val="solid"/>
          </a:ln>
        </p:spPr>
      </p:sp>
      <p:sp>
        <p:nvSpPr>
          <p:cNvPr id="23" name="Text 21"/>
          <p:cNvSpPr/>
          <p:nvPr/>
        </p:nvSpPr>
        <p:spPr>
          <a:xfrm>
            <a:off x="4663440" y="3520440"/>
            <a:ext cx="1280160" cy="365760"/>
          </a:xfrm>
          <a:prstGeom prst="rect">
            <a:avLst/>
          </a:prstGeom>
          <a:noFill/>
          <a:ln/>
        </p:spPr>
        <p:txBody>
          <a:bodyPr wrap="square" rtlCol="0" anchor="ctr"/>
          <a:lstStyle/>
          <a:p>
            <a:pPr algn="ctr" indent="0" marL="0">
              <a:buNone/>
            </a:pPr>
            <a:r>
              <a:rPr lang="en-US" sz="1100" b="1" dirty="0">
                <a:solidFill>
                  <a:srgbClr val="CADCFC"/>
                </a:solidFill>
                <a:latin typeface="Calibri" pitchFamily="34" charset="0"/>
                <a:ea typeface="Calibri" pitchFamily="34" charset="-122"/>
                <a:cs typeface="Calibri" pitchFamily="34" charset="-120"/>
              </a:rPr>
              <a:t>tongue_out</a:t>
            </a:r>
            <a:endParaRPr lang="en-US" sz="1100" dirty="0"/>
          </a:p>
        </p:txBody>
      </p:sp>
      <p:sp>
        <p:nvSpPr>
          <p:cNvPr id="24" name="Text 22"/>
          <p:cNvSpPr/>
          <p:nvPr/>
        </p:nvSpPr>
        <p:spPr>
          <a:xfrm>
            <a:off x="548640" y="4023360"/>
            <a:ext cx="5486400" cy="365760"/>
          </a:xfrm>
          <a:prstGeom prst="rect">
            <a:avLst/>
          </a:prstGeom>
          <a:noFill/>
          <a:ln/>
        </p:spPr>
        <p:txBody>
          <a:bodyPr wrap="square" rtlCol="0" anchor="ctr"/>
          <a:lstStyle/>
          <a:p>
            <a:pPr indent="0" marL="0">
              <a:buNone/>
            </a:pPr>
            <a:r>
              <a:rPr lang="en-US" sz="1200" b="1" dirty="0">
                <a:solidFill>
                  <a:srgbClr val="065A82"/>
                </a:solidFill>
                <a:latin typeface="Calibri" pitchFamily="34" charset="0"/>
                <a:ea typeface="Calibri" pitchFamily="34" charset="-122"/>
                <a:cs typeface="Calibri" pitchFamily="34" charset="-120"/>
              </a:rPr>
              <a:t>Augmentation:  </a:t>
            </a:r>
            <a:pPr indent="0" marL="0">
              <a:buNone/>
            </a:pPr>
            <a:r>
              <a:rPr lang="en-US" sz="1200" dirty="0">
                <a:solidFill>
                  <a:srgbClr val="425568"/>
                </a:solidFill>
                <a:latin typeface="Calibri" pitchFamily="34" charset="0"/>
                <a:ea typeface="Calibri" pitchFamily="34" charset="-122"/>
                <a:cs typeface="Calibri" pitchFamily="34" charset="-120"/>
              </a:rPr>
              <a:t>sliding window (×N) + Gaussian noise per channel</a:t>
            </a:r>
            <a:endParaRPr lang="en-US" sz="1200" dirty="0"/>
          </a:p>
        </p:txBody>
      </p:sp>
      <p:sp>
        <p:nvSpPr>
          <p:cNvPr id="25" name="Text 23"/>
          <p:cNvSpPr/>
          <p:nvPr/>
        </p:nvSpPr>
        <p:spPr>
          <a:xfrm>
            <a:off x="548640" y="4526280"/>
            <a:ext cx="5486400" cy="292608"/>
          </a:xfrm>
          <a:prstGeom prst="rect">
            <a:avLst/>
          </a:prstGeom>
          <a:noFill/>
          <a:ln/>
        </p:spPr>
        <p:txBody>
          <a:bodyPr wrap="square" rtlCol="0" anchor="ctr"/>
          <a:lstStyle/>
          <a:p>
            <a:pPr indent="0" marL="0">
              <a:buNone/>
            </a:pPr>
            <a:r>
              <a:rPr lang="en-US" sz="1200" b="1" dirty="0">
                <a:solidFill>
                  <a:srgbClr val="065A82"/>
                </a:solidFill>
                <a:latin typeface="Calibri" pitchFamily="34" charset="0"/>
                <a:ea typeface="Calibri" pitchFamily="34" charset="-122"/>
                <a:cs typeface="Calibri" pitchFamily="34" charset="-120"/>
              </a:rPr>
              <a:t>1-D CNN  (input 30 × 52)</a:t>
            </a:r>
            <a:endParaRPr lang="en-US" sz="1200" dirty="0"/>
          </a:p>
        </p:txBody>
      </p:sp>
      <p:sp>
        <p:nvSpPr>
          <p:cNvPr id="26" name="Shape 24"/>
          <p:cNvSpPr/>
          <p:nvPr/>
        </p:nvSpPr>
        <p:spPr>
          <a:xfrm>
            <a:off x="548640" y="4937760"/>
            <a:ext cx="960120" cy="868680"/>
          </a:xfrm>
          <a:prstGeom prst="roundRect">
            <a:avLst>
              <a:gd name="adj" fmla="val 8421"/>
            </a:avLst>
          </a:prstGeom>
          <a:solidFill>
            <a:srgbClr val="1C7293"/>
          </a:solidFill>
          <a:ln/>
        </p:spPr>
      </p:sp>
      <p:sp>
        <p:nvSpPr>
          <p:cNvPr id="27" name="Text 25"/>
          <p:cNvSpPr/>
          <p:nvPr/>
        </p:nvSpPr>
        <p:spPr>
          <a:xfrm>
            <a:off x="548640" y="4983480"/>
            <a:ext cx="960120" cy="365760"/>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Conv·BN</a:t>
            </a:r>
            <a:endParaRPr lang="en-US" sz="1100" dirty="0"/>
          </a:p>
        </p:txBody>
      </p:sp>
      <p:sp>
        <p:nvSpPr>
          <p:cNvPr id="28" name="Text 26"/>
          <p:cNvSpPr/>
          <p:nvPr/>
        </p:nvSpPr>
        <p:spPr>
          <a:xfrm>
            <a:off x="548640" y="5349240"/>
            <a:ext cx="960120" cy="365760"/>
          </a:xfrm>
          <a:prstGeom prst="rect">
            <a:avLst/>
          </a:prstGeom>
          <a:noFill/>
          <a:ln/>
        </p:spPr>
        <p:txBody>
          <a:bodyPr wrap="square" rtlCol="0" anchor="ctr"/>
          <a:lstStyle/>
          <a:p>
            <a:pPr algn="ctr" indent="0" marL="0">
              <a:buNone/>
            </a:pPr>
            <a:r>
              <a:rPr lang="en-US" sz="1000" dirty="0">
                <a:solidFill>
                  <a:srgbClr val="CADCFC"/>
                </a:solidFill>
                <a:latin typeface="Calibri" pitchFamily="34" charset="0"/>
                <a:ea typeface="Calibri" pitchFamily="34" charset="-122"/>
                <a:cs typeface="Calibri" pitchFamily="34" charset="-120"/>
              </a:rPr>
              <a:t>32 ch</a:t>
            </a:r>
            <a:endParaRPr lang="en-US" sz="1000" dirty="0"/>
          </a:p>
        </p:txBody>
      </p:sp>
      <p:sp>
        <p:nvSpPr>
          <p:cNvPr id="29" name="Text 27"/>
          <p:cNvSpPr/>
          <p:nvPr/>
        </p:nvSpPr>
        <p:spPr>
          <a:xfrm>
            <a:off x="1508760" y="5166360"/>
            <a:ext cx="137160" cy="365760"/>
          </a:xfrm>
          <a:prstGeom prst="rect">
            <a:avLst/>
          </a:prstGeom>
          <a:noFill/>
          <a:ln/>
        </p:spPr>
        <p:txBody>
          <a:bodyPr wrap="square" rtlCol="0" anchor="ctr"/>
          <a:lstStyle/>
          <a:p>
            <a:pPr algn="ctr" indent="0" marL="0">
              <a:buNone/>
            </a:pPr>
            <a:r>
              <a:rPr lang="en-US" sz="1200" dirty="0">
                <a:solidFill>
                  <a:srgbClr val="065A82"/>
                </a:solidFill>
                <a:latin typeface="Calibri" pitchFamily="34" charset="0"/>
                <a:ea typeface="Calibri" pitchFamily="34" charset="-122"/>
                <a:cs typeface="Calibri" pitchFamily="34" charset="-120"/>
              </a:rPr>
              <a:t>▶</a:t>
            </a:r>
            <a:endParaRPr lang="en-US" sz="1200" dirty="0"/>
          </a:p>
        </p:txBody>
      </p:sp>
      <p:sp>
        <p:nvSpPr>
          <p:cNvPr id="30" name="Shape 28"/>
          <p:cNvSpPr/>
          <p:nvPr/>
        </p:nvSpPr>
        <p:spPr>
          <a:xfrm>
            <a:off x="1645920" y="4937760"/>
            <a:ext cx="960120" cy="868680"/>
          </a:xfrm>
          <a:prstGeom prst="roundRect">
            <a:avLst>
              <a:gd name="adj" fmla="val 8421"/>
            </a:avLst>
          </a:prstGeom>
          <a:solidFill>
            <a:srgbClr val="1C7293"/>
          </a:solidFill>
          <a:ln/>
        </p:spPr>
      </p:sp>
      <p:sp>
        <p:nvSpPr>
          <p:cNvPr id="31" name="Text 29"/>
          <p:cNvSpPr/>
          <p:nvPr/>
        </p:nvSpPr>
        <p:spPr>
          <a:xfrm>
            <a:off x="1645920" y="4983480"/>
            <a:ext cx="960120" cy="365760"/>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Conv·BN</a:t>
            </a:r>
            <a:endParaRPr lang="en-US" sz="1100" dirty="0"/>
          </a:p>
        </p:txBody>
      </p:sp>
      <p:sp>
        <p:nvSpPr>
          <p:cNvPr id="32" name="Text 30"/>
          <p:cNvSpPr/>
          <p:nvPr/>
        </p:nvSpPr>
        <p:spPr>
          <a:xfrm>
            <a:off x="1645920" y="5349240"/>
            <a:ext cx="960120" cy="365760"/>
          </a:xfrm>
          <a:prstGeom prst="rect">
            <a:avLst/>
          </a:prstGeom>
          <a:noFill/>
          <a:ln/>
        </p:spPr>
        <p:txBody>
          <a:bodyPr wrap="square" rtlCol="0" anchor="ctr"/>
          <a:lstStyle/>
          <a:p>
            <a:pPr algn="ctr" indent="0" marL="0">
              <a:buNone/>
            </a:pPr>
            <a:r>
              <a:rPr lang="en-US" sz="1000" dirty="0">
                <a:solidFill>
                  <a:srgbClr val="CADCFC"/>
                </a:solidFill>
                <a:latin typeface="Calibri" pitchFamily="34" charset="0"/>
                <a:ea typeface="Calibri" pitchFamily="34" charset="-122"/>
                <a:cs typeface="Calibri" pitchFamily="34" charset="-120"/>
              </a:rPr>
              <a:t>64 ch</a:t>
            </a:r>
            <a:endParaRPr lang="en-US" sz="1000" dirty="0"/>
          </a:p>
        </p:txBody>
      </p:sp>
      <p:sp>
        <p:nvSpPr>
          <p:cNvPr id="33" name="Text 31"/>
          <p:cNvSpPr/>
          <p:nvPr/>
        </p:nvSpPr>
        <p:spPr>
          <a:xfrm>
            <a:off x="2606040" y="5166360"/>
            <a:ext cx="137160" cy="365760"/>
          </a:xfrm>
          <a:prstGeom prst="rect">
            <a:avLst/>
          </a:prstGeom>
          <a:noFill/>
          <a:ln/>
        </p:spPr>
        <p:txBody>
          <a:bodyPr wrap="square" rtlCol="0" anchor="ctr"/>
          <a:lstStyle/>
          <a:p>
            <a:pPr algn="ctr" indent="0" marL="0">
              <a:buNone/>
            </a:pPr>
            <a:r>
              <a:rPr lang="en-US" sz="1200" dirty="0">
                <a:solidFill>
                  <a:srgbClr val="065A82"/>
                </a:solidFill>
                <a:latin typeface="Calibri" pitchFamily="34" charset="0"/>
                <a:ea typeface="Calibri" pitchFamily="34" charset="-122"/>
                <a:cs typeface="Calibri" pitchFamily="34" charset="-120"/>
              </a:rPr>
              <a:t>▶</a:t>
            </a:r>
            <a:endParaRPr lang="en-US" sz="1200" dirty="0"/>
          </a:p>
        </p:txBody>
      </p:sp>
      <p:sp>
        <p:nvSpPr>
          <p:cNvPr id="34" name="Shape 32"/>
          <p:cNvSpPr/>
          <p:nvPr/>
        </p:nvSpPr>
        <p:spPr>
          <a:xfrm>
            <a:off x="2743200" y="4937760"/>
            <a:ext cx="960120" cy="868680"/>
          </a:xfrm>
          <a:prstGeom prst="roundRect">
            <a:avLst>
              <a:gd name="adj" fmla="val 8421"/>
            </a:avLst>
          </a:prstGeom>
          <a:solidFill>
            <a:srgbClr val="1C7293"/>
          </a:solidFill>
          <a:ln/>
        </p:spPr>
      </p:sp>
      <p:sp>
        <p:nvSpPr>
          <p:cNvPr id="35" name="Text 33"/>
          <p:cNvSpPr/>
          <p:nvPr/>
        </p:nvSpPr>
        <p:spPr>
          <a:xfrm>
            <a:off x="2743200" y="4983480"/>
            <a:ext cx="960120" cy="365760"/>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Conv·BN</a:t>
            </a:r>
            <a:endParaRPr lang="en-US" sz="1100" dirty="0"/>
          </a:p>
        </p:txBody>
      </p:sp>
      <p:sp>
        <p:nvSpPr>
          <p:cNvPr id="36" name="Text 34"/>
          <p:cNvSpPr/>
          <p:nvPr/>
        </p:nvSpPr>
        <p:spPr>
          <a:xfrm>
            <a:off x="2743200" y="5349240"/>
            <a:ext cx="960120" cy="365760"/>
          </a:xfrm>
          <a:prstGeom prst="rect">
            <a:avLst/>
          </a:prstGeom>
          <a:noFill/>
          <a:ln/>
        </p:spPr>
        <p:txBody>
          <a:bodyPr wrap="square" rtlCol="0" anchor="ctr"/>
          <a:lstStyle/>
          <a:p>
            <a:pPr algn="ctr" indent="0" marL="0">
              <a:buNone/>
            </a:pPr>
            <a:r>
              <a:rPr lang="en-US" sz="1000" dirty="0">
                <a:solidFill>
                  <a:srgbClr val="CADCFC"/>
                </a:solidFill>
                <a:latin typeface="Calibri" pitchFamily="34" charset="0"/>
                <a:ea typeface="Calibri" pitchFamily="34" charset="-122"/>
                <a:cs typeface="Calibri" pitchFamily="34" charset="-120"/>
              </a:rPr>
              <a:t>64 ch</a:t>
            </a:r>
            <a:endParaRPr lang="en-US" sz="1000" dirty="0"/>
          </a:p>
        </p:txBody>
      </p:sp>
      <p:sp>
        <p:nvSpPr>
          <p:cNvPr id="37" name="Text 35"/>
          <p:cNvSpPr/>
          <p:nvPr/>
        </p:nvSpPr>
        <p:spPr>
          <a:xfrm>
            <a:off x="3703320" y="5166360"/>
            <a:ext cx="137160" cy="365760"/>
          </a:xfrm>
          <a:prstGeom prst="rect">
            <a:avLst/>
          </a:prstGeom>
          <a:noFill/>
          <a:ln/>
        </p:spPr>
        <p:txBody>
          <a:bodyPr wrap="square" rtlCol="0" anchor="ctr"/>
          <a:lstStyle/>
          <a:p>
            <a:pPr algn="ctr" indent="0" marL="0">
              <a:buNone/>
            </a:pPr>
            <a:r>
              <a:rPr lang="en-US" sz="1200" dirty="0">
                <a:solidFill>
                  <a:srgbClr val="065A82"/>
                </a:solidFill>
                <a:latin typeface="Calibri" pitchFamily="34" charset="0"/>
                <a:ea typeface="Calibri" pitchFamily="34" charset="-122"/>
                <a:cs typeface="Calibri" pitchFamily="34" charset="-120"/>
              </a:rPr>
              <a:t>▶</a:t>
            </a:r>
            <a:endParaRPr lang="en-US" sz="1200" dirty="0"/>
          </a:p>
        </p:txBody>
      </p:sp>
      <p:sp>
        <p:nvSpPr>
          <p:cNvPr id="38" name="Shape 36"/>
          <p:cNvSpPr/>
          <p:nvPr/>
        </p:nvSpPr>
        <p:spPr>
          <a:xfrm>
            <a:off x="3840480" y="4937760"/>
            <a:ext cx="960120" cy="868680"/>
          </a:xfrm>
          <a:prstGeom prst="roundRect">
            <a:avLst>
              <a:gd name="adj" fmla="val 8421"/>
            </a:avLst>
          </a:prstGeom>
          <a:solidFill>
            <a:srgbClr val="4A6A85"/>
          </a:solidFill>
          <a:ln/>
        </p:spPr>
      </p:sp>
      <p:sp>
        <p:nvSpPr>
          <p:cNvPr id="39" name="Text 37"/>
          <p:cNvSpPr/>
          <p:nvPr/>
        </p:nvSpPr>
        <p:spPr>
          <a:xfrm>
            <a:off x="3840480" y="4983480"/>
            <a:ext cx="960120" cy="365760"/>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GAP</a:t>
            </a:r>
            <a:endParaRPr lang="en-US" sz="1100" dirty="0"/>
          </a:p>
        </p:txBody>
      </p:sp>
      <p:sp>
        <p:nvSpPr>
          <p:cNvPr id="40" name="Text 38"/>
          <p:cNvSpPr/>
          <p:nvPr/>
        </p:nvSpPr>
        <p:spPr>
          <a:xfrm>
            <a:off x="3840480" y="5349240"/>
            <a:ext cx="960120" cy="365760"/>
          </a:xfrm>
          <a:prstGeom prst="rect">
            <a:avLst/>
          </a:prstGeom>
          <a:noFill/>
          <a:ln/>
        </p:spPr>
        <p:txBody>
          <a:bodyPr wrap="square" rtlCol="0" anchor="ctr"/>
          <a:lstStyle/>
          <a:p>
            <a:pPr algn="ctr" indent="0" marL="0">
              <a:buNone/>
            </a:pPr>
            <a:r>
              <a:rPr lang="en-US" sz="1000" dirty="0">
                <a:solidFill>
                  <a:srgbClr val="CADCFC"/>
                </a:solidFill>
                <a:latin typeface="Calibri" pitchFamily="34" charset="0"/>
                <a:ea typeface="Calibri" pitchFamily="34" charset="-122"/>
                <a:cs typeface="Calibri" pitchFamily="34" charset="-120"/>
              </a:rPr>
              <a:t>+ Drop</a:t>
            </a:r>
            <a:endParaRPr lang="en-US" sz="1000" dirty="0"/>
          </a:p>
        </p:txBody>
      </p:sp>
      <p:sp>
        <p:nvSpPr>
          <p:cNvPr id="41" name="Text 39"/>
          <p:cNvSpPr/>
          <p:nvPr/>
        </p:nvSpPr>
        <p:spPr>
          <a:xfrm>
            <a:off x="4800600" y="5166360"/>
            <a:ext cx="137160" cy="365760"/>
          </a:xfrm>
          <a:prstGeom prst="rect">
            <a:avLst/>
          </a:prstGeom>
          <a:noFill/>
          <a:ln/>
        </p:spPr>
        <p:txBody>
          <a:bodyPr wrap="square" rtlCol="0" anchor="ctr"/>
          <a:lstStyle/>
          <a:p>
            <a:pPr algn="ctr" indent="0" marL="0">
              <a:buNone/>
            </a:pPr>
            <a:r>
              <a:rPr lang="en-US" sz="1200" dirty="0">
                <a:solidFill>
                  <a:srgbClr val="065A82"/>
                </a:solidFill>
                <a:latin typeface="Calibri" pitchFamily="34" charset="0"/>
                <a:ea typeface="Calibri" pitchFamily="34" charset="-122"/>
                <a:cs typeface="Calibri" pitchFamily="34" charset="-120"/>
              </a:rPr>
              <a:t>▶</a:t>
            </a:r>
            <a:endParaRPr lang="en-US" sz="1200" dirty="0"/>
          </a:p>
        </p:txBody>
      </p:sp>
      <p:sp>
        <p:nvSpPr>
          <p:cNvPr id="42" name="Shape 40"/>
          <p:cNvSpPr/>
          <p:nvPr/>
        </p:nvSpPr>
        <p:spPr>
          <a:xfrm>
            <a:off x="4937760" y="4937760"/>
            <a:ext cx="960120" cy="868680"/>
          </a:xfrm>
          <a:prstGeom prst="roundRect">
            <a:avLst>
              <a:gd name="adj" fmla="val 8421"/>
            </a:avLst>
          </a:prstGeom>
          <a:solidFill>
            <a:srgbClr val="00C2A8"/>
          </a:solidFill>
          <a:ln/>
        </p:spPr>
      </p:sp>
      <p:sp>
        <p:nvSpPr>
          <p:cNvPr id="43" name="Text 41"/>
          <p:cNvSpPr/>
          <p:nvPr/>
        </p:nvSpPr>
        <p:spPr>
          <a:xfrm>
            <a:off x="4937760" y="4983480"/>
            <a:ext cx="960120" cy="365760"/>
          </a:xfrm>
          <a:prstGeom prst="rect">
            <a:avLst/>
          </a:prstGeom>
          <a:noFill/>
          <a:ln/>
        </p:spPr>
        <p:txBody>
          <a:bodyPr wrap="square" rtlCol="0" anchor="ctr"/>
          <a:lstStyle/>
          <a:p>
            <a:pPr algn="ctr" indent="0" marL="0">
              <a:buNone/>
            </a:pPr>
            <a:r>
              <a:rPr lang="en-US" sz="1100" b="1" dirty="0">
                <a:solidFill>
                  <a:srgbClr val="0B1A2A"/>
                </a:solidFill>
                <a:latin typeface="Calibri" pitchFamily="34" charset="0"/>
                <a:ea typeface="Calibri" pitchFamily="34" charset="-122"/>
                <a:cs typeface="Calibri" pitchFamily="34" charset="-120"/>
              </a:rPr>
              <a:t>Dense</a:t>
            </a:r>
            <a:endParaRPr lang="en-US" sz="1100" dirty="0"/>
          </a:p>
        </p:txBody>
      </p:sp>
      <p:sp>
        <p:nvSpPr>
          <p:cNvPr id="44" name="Text 42"/>
          <p:cNvSpPr/>
          <p:nvPr/>
        </p:nvSpPr>
        <p:spPr>
          <a:xfrm>
            <a:off x="4937760" y="5349240"/>
            <a:ext cx="960120" cy="365760"/>
          </a:xfrm>
          <a:prstGeom prst="rect">
            <a:avLst/>
          </a:prstGeom>
          <a:noFill/>
          <a:ln/>
        </p:spPr>
        <p:txBody>
          <a:bodyPr wrap="square" rtlCol="0" anchor="ctr"/>
          <a:lstStyle/>
          <a:p>
            <a:pPr algn="ctr" indent="0" marL="0">
              <a:buNone/>
            </a:pPr>
            <a:r>
              <a:rPr lang="en-US" sz="1000" dirty="0">
                <a:solidFill>
                  <a:srgbClr val="0B1A2A"/>
                </a:solidFill>
                <a:latin typeface="Calibri" pitchFamily="34" charset="0"/>
                <a:ea typeface="Calibri" pitchFamily="34" charset="-122"/>
                <a:cs typeface="Calibri" pitchFamily="34" charset="-120"/>
              </a:rPr>
              <a:t>8 · softmax</a:t>
            </a:r>
            <a:endParaRPr lang="en-US" sz="1000" dirty="0"/>
          </a:p>
        </p:txBody>
      </p:sp>
      <p:sp>
        <p:nvSpPr>
          <p:cNvPr id="45" name="Text 43"/>
          <p:cNvSpPr/>
          <p:nvPr/>
        </p:nvSpPr>
        <p:spPr>
          <a:xfrm>
            <a:off x="548640" y="5897880"/>
            <a:ext cx="5486400" cy="274320"/>
          </a:xfrm>
          <a:prstGeom prst="rect">
            <a:avLst/>
          </a:prstGeom>
          <a:noFill/>
          <a:ln/>
        </p:spPr>
        <p:txBody>
          <a:bodyPr wrap="square" rtlCol="0" anchor="ctr"/>
          <a:lstStyle/>
          <a:p>
            <a:pPr indent="0" marL="0">
              <a:buNone/>
            </a:pPr>
            <a:r>
              <a:rPr lang="en-US" sz="1100" i="1" dirty="0">
                <a:solidFill>
                  <a:srgbClr val="425568"/>
                </a:solidFill>
                <a:latin typeface="Calibri" pitchFamily="34" charset="0"/>
                <a:ea typeface="Calibri" pitchFamily="34" charset="-122"/>
                <a:cs typeface="Calibri" pitchFamily="34" charset="-120"/>
              </a:rPr>
              <a:t>Total = 32 168 params</a:t>
            </a:r>
            <a:endParaRPr lang="en-US" sz="1100" dirty="0"/>
          </a:p>
        </p:txBody>
      </p:sp>
      <p:pic>
        <p:nvPicPr>
          <p:cNvPr id="46" name="Image 0" descr="/sessions/dreamy-wizardly-wright/mnt/outputs/ppt_build/assets/training.png">    </p:cNvPr>
          <p:cNvPicPr>
            <a:picLocks noChangeAspect="1"/>
          </p:cNvPicPr>
          <p:nvPr/>
        </p:nvPicPr>
        <p:blipFill>
          <a:blip r:embed="rId1"/>
          <a:stretch>
            <a:fillRect/>
          </a:stretch>
        </p:blipFill>
        <p:spPr>
          <a:xfrm>
            <a:off x="6400800" y="1463040"/>
            <a:ext cx="5349240" cy="4160520"/>
          </a:xfrm>
          <a:prstGeom prst="rect">
            <a:avLst/>
          </a:prstGeom>
        </p:spPr>
      </p:pic>
      <p:sp>
        <p:nvSpPr>
          <p:cNvPr id="47" name="Text 44"/>
          <p:cNvSpPr/>
          <p:nvPr/>
        </p:nvSpPr>
        <p:spPr>
          <a:xfrm>
            <a:off x="6400800" y="5715000"/>
            <a:ext cx="5349240" cy="365760"/>
          </a:xfrm>
          <a:prstGeom prst="rect">
            <a:avLst/>
          </a:prstGeom>
          <a:noFill/>
          <a:ln/>
        </p:spPr>
        <p:txBody>
          <a:bodyPr wrap="square" rtlCol="0" anchor="ctr"/>
          <a:lstStyle/>
          <a:p>
            <a:pPr algn="ctr" indent="0" marL="0">
              <a:buNone/>
            </a:pPr>
            <a:r>
              <a:rPr lang="en-US" sz="1100" i="1" dirty="0">
                <a:solidFill>
                  <a:srgbClr val="425568"/>
                </a:solidFill>
                <a:latin typeface="Calibri" pitchFamily="34" charset="0"/>
                <a:ea typeface="Calibri" pitchFamily="34" charset="-122"/>
                <a:cs typeface="Calibri" pitchFamily="34" charset="-120"/>
              </a:rPr>
              <a:t>Training schedule  ·  val acc 0.69 → 0.983, EarlyStop @ ep 28</a:t>
            </a:r>
            <a:endParaRPr lang="en-US" sz="1100" dirty="0"/>
          </a:p>
        </p:txBody>
      </p:sp>
      <p:sp>
        <p:nvSpPr>
          <p:cNvPr id="48" name="Text 45"/>
          <p:cNvSpPr/>
          <p:nvPr/>
        </p:nvSpPr>
        <p:spPr>
          <a:xfrm>
            <a:off x="10972800" y="6446520"/>
            <a:ext cx="1005840" cy="274320"/>
          </a:xfrm>
          <a:prstGeom prst="rect">
            <a:avLst/>
          </a:prstGeom>
          <a:noFill/>
          <a:ln/>
        </p:spPr>
        <p:txBody>
          <a:bodyPr wrap="square" rtlCol="0" anchor="ctr"/>
          <a:lstStyle/>
          <a:p>
            <a:pPr algn="r" indent="0" marL="0">
              <a:buNone/>
            </a:pPr>
            <a:r>
              <a:rPr lang="en-US" sz="1000" dirty="0">
                <a:solidFill>
                  <a:srgbClr val="8FA3BF"/>
                </a:solidFill>
                <a:latin typeface="Calibri" pitchFamily="34" charset="0"/>
                <a:ea typeface="Calibri" pitchFamily="34" charset="-122"/>
                <a:cs typeface="Calibri" pitchFamily="34" charset="-120"/>
              </a:rPr>
              <a:t>4 / 9</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E1A2B"/>
        </a:solidFill>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065A82"/>
          </a:solidFill>
          <a:ln/>
        </p:spPr>
      </p:sp>
      <p:sp>
        <p:nvSpPr>
          <p:cNvPr id="3" name="Text 1"/>
          <p:cNvSpPr/>
          <p:nvPr/>
        </p:nvSpPr>
        <p:spPr>
          <a:xfrm>
            <a:off x="411480" y="274320"/>
            <a:ext cx="10972800" cy="365760"/>
          </a:xfrm>
          <a:prstGeom prst="rect">
            <a:avLst/>
          </a:prstGeom>
          <a:noFill/>
          <a:ln/>
        </p:spPr>
        <p:txBody>
          <a:bodyPr wrap="square" rtlCol="0" anchor="ctr"/>
          <a:lstStyle/>
          <a:p>
            <a:pPr indent="0" marL="0">
              <a:buNone/>
            </a:pPr>
            <a:r>
              <a:rPr lang="en-US" sz="1300" b="1" dirty="0">
                <a:solidFill>
                  <a:srgbClr val="00C2A8"/>
                </a:solidFill>
                <a:latin typeface="Calibri" pitchFamily="34" charset="0"/>
                <a:ea typeface="Calibri" pitchFamily="34" charset="-122"/>
                <a:cs typeface="Calibri" pitchFamily="34" charset="-120"/>
              </a:rPr>
              <a:t>04 · LIVE — ON THE PHONE, NOT THE LAPTOP</a:t>
            </a:r>
            <a:endParaRPr lang="en-US" sz="1300" dirty="0"/>
          </a:p>
        </p:txBody>
      </p:sp>
      <p:sp>
        <p:nvSpPr>
          <p:cNvPr id="4" name="Text 2"/>
          <p:cNvSpPr/>
          <p:nvPr/>
        </p:nvSpPr>
        <p:spPr>
          <a:xfrm>
            <a:off x="548640" y="777240"/>
            <a:ext cx="11338560" cy="594360"/>
          </a:xfrm>
          <a:prstGeom prst="rect">
            <a:avLst/>
          </a:prstGeom>
          <a:noFill/>
          <a:ln/>
        </p:spPr>
        <p:txBody>
          <a:bodyPr wrap="square" rtlCol="0" anchor="ctr"/>
          <a:lstStyle/>
          <a:p>
            <a:pPr indent="0" marL="0">
              <a:buNone/>
            </a:pPr>
            <a:r>
              <a:rPr lang="en-US" sz="2400" b="1" dirty="0">
                <a:solidFill>
                  <a:srgbClr val="FFFFFF"/>
                </a:solidFill>
                <a:latin typeface="Georgia" pitchFamily="34" charset="0"/>
                <a:ea typeface="Georgia" pitchFamily="34" charset="-122"/>
                <a:cs typeface="Georgia" pitchFamily="34" charset="-120"/>
              </a:rPr>
              <a:t>Demo 1  ·  iPhone homepage → expression-following avatar</a:t>
            </a:r>
            <a:endParaRPr lang="en-US" sz="2400" dirty="0"/>
          </a:p>
        </p:txBody>
      </p:sp>
      <p:sp>
        <p:nvSpPr>
          <p:cNvPr id="5" name="Text 3"/>
          <p:cNvSpPr/>
          <p:nvPr/>
        </p:nvSpPr>
        <p:spPr>
          <a:xfrm>
            <a:off x="548640" y="1417320"/>
            <a:ext cx="10972800" cy="411480"/>
          </a:xfrm>
          <a:prstGeom prst="rect">
            <a:avLst/>
          </a:prstGeom>
          <a:noFill/>
          <a:ln/>
        </p:spPr>
        <p:txBody>
          <a:bodyPr wrap="square" rtlCol="0" anchor="ctr"/>
          <a:lstStyle/>
          <a:p>
            <a:pPr indent="0" marL="0">
              <a:buNone/>
            </a:pPr>
            <a:r>
              <a:rPr lang="en-US" sz="1400" i="1" dirty="0">
                <a:solidFill>
                  <a:srgbClr val="CADCFC"/>
                </a:solidFill>
                <a:latin typeface="Calibri" pitchFamily="34" charset="0"/>
                <a:ea typeface="Calibri" pitchFamily="34" charset="-122"/>
                <a:cs typeface="Calibri" pitchFamily="34" charset="-120"/>
              </a:rPr>
              <a:t>Everything below runs inside Safari on the phone — the laptop is only here as a second peer.</a:t>
            </a:r>
            <a:endParaRPr lang="en-US" sz="1400" dirty="0"/>
          </a:p>
        </p:txBody>
      </p:sp>
      <p:sp>
        <p:nvSpPr>
          <p:cNvPr id="6" name="Shape 4"/>
          <p:cNvSpPr/>
          <p:nvPr/>
        </p:nvSpPr>
        <p:spPr>
          <a:xfrm>
            <a:off x="548640" y="2011680"/>
            <a:ext cx="8046720" cy="4297680"/>
          </a:xfrm>
          <a:prstGeom prst="roundRect">
            <a:avLst>
              <a:gd name="adj" fmla="val 2553"/>
            </a:avLst>
          </a:prstGeom>
          <a:solidFill>
            <a:srgbClr val="13243A"/>
          </a:solidFill>
          <a:ln w="25400">
            <a:solidFill>
              <a:srgbClr val="1C7293"/>
            </a:solidFill>
            <a:prstDash val="dash"/>
          </a:ln>
        </p:spPr>
      </p:sp>
      <p:sp>
        <p:nvSpPr>
          <p:cNvPr id="7" name="Text 5"/>
          <p:cNvSpPr/>
          <p:nvPr/>
        </p:nvSpPr>
        <p:spPr>
          <a:xfrm>
            <a:off x="548640" y="3520440"/>
            <a:ext cx="8046720" cy="548640"/>
          </a:xfrm>
          <a:prstGeom prst="rect">
            <a:avLst/>
          </a:prstGeom>
          <a:noFill/>
          <a:ln/>
        </p:spPr>
        <p:txBody>
          <a:bodyPr wrap="square" rtlCol="0" anchor="ctr"/>
          <a:lstStyle/>
          <a:p>
            <a:pPr algn="ctr" indent="0" marL="0">
              <a:buNone/>
            </a:pPr>
            <a:r>
              <a:rPr lang="en-US" sz="2600" b="1" dirty="0">
                <a:solidFill>
                  <a:srgbClr val="00C2A8"/>
                </a:solidFill>
                <a:latin typeface="Georgia" pitchFamily="34" charset="0"/>
                <a:ea typeface="Georgia" pitchFamily="34" charset="-122"/>
                <a:cs typeface="Georgia" pitchFamily="34" charset="-120"/>
              </a:rPr>
              <a:t>▶  Insert recorded clip here</a:t>
            </a:r>
            <a:endParaRPr lang="en-US" sz="2600" dirty="0"/>
          </a:p>
        </p:txBody>
      </p:sp>
      <p:sp>
        <p:nvSpPr>
          <p:cNvPr id="8" name="Text 6"/>
          <p:cNvSpPr/>
          <p:nvPr/>
        </p:nvSpPr>
        <p:spPr>
          <a:xfrm>
            <a:off x="548640" y="4114800"/>
            <a:ext cx="8046720" cy="365760"/>
          </a:xfrm>
          <a:prstGeom prst="rect">
            <a:avLst/>
          </a:prstGeom>
          <a:noFill/>
          <a:ln/>
        </p:spPr>
        <p:txBody>
          <a:bodyPr wrap="square" rtlCol="0" anchor="ctr"/>
          <a:lstStyle/>
          <a:p>
            <a:pPr algn="ctr" indent="0" marL="0">
              <a:buNone/>
            </a:pPr>
            <a:r>
              <a:rPr lang="en-US" sz="1300" i="1" dirty="0">
                <a:solidFill>
                  <a:srgbClr val="CADCFC"/>
                </a:solidFill>
                <a:latin typeface="Calibri" pitchFamily="34" charset="0"/>
                <a:ea typeface="Calibri" pitchFamily="34" charset="-122"/>
                <a:cs typeface="Calibri" pitchFamily="34" charset="-120"/>
              </a:rPr>
              <a:t>录屏2026-05-06 09.34.57.mov  —  iPhone home screen → tap room → avatar mirrors face</a:t>
            </a:r>
            <a:endParaRPr lang="en-US" sz="1300" dirty="0"/>
          </a:p>
        </p:txBody>
      </p:sp>
      <p:sp>
        <p:nvSpPr>
          <p:cNvPr id="9" name="Text 7"/>
          <p:cNvSpPr/>
          <p:nvPr/>
        </p:nvSpPr>
        <p:spPr>
          <a:xfrm>
            <a:off x="548640" y="4526280"/>
            <a:ext cx="8046720" cy="365760"/>
          </a:xfrm>
          <a:prstGeom prst="rect">
            <a:avLst/>
          </a:prstGeom>
          <a:noFill/>
          <a:ln/>
        </p:spPr>
        <p:txBody>
          <a:bodyPr wrap="square" rtlCol="0" anchor="ctr"/>
          <a:lstStyle/>
          <a:p>
            <a:pPr algn="ctr" indent="0" marL="0">
              <a:buNone/>
            </a:pPr>
            <a:r>
              <a:rPr lang="en-US" sz="1200" dirty="0">
                <a:solidFill>
                  <a:srgbClr val="8FA3BF"/>
                </a:solidFill>
                <a:latin typeface="Calibri" pitchFamily="34" charset="0"/>
                <a:ea typeface="Calibri" pitchFamily="34" charset="-122"/>
                <a:cs typeface="Calibri" pitchFamily="34" charset="-120"/>
              </a:rPr>
              <a:t>The computer is just the peer; the model and the avatar both live on the phone.</a:t>
            </a:r>
            <a:endParaRPr lang="en-US" sz="1200" dirty="0"/>
          </a:p>
        </p:txBody>
      </p:sp>
      <p:sp>
        <p:nvSpPr>
          <p:cNvPr id="10" name="Shape 8"/>
          <p:cNvSpPr/>
          <p:nvPr/>
        </p:nvSpPr>
        <p:spPr>
          <a:xfrm>
            <a:off x="8823960" y="2011680"/>
            <a:ext cx="2834640" cy="4297680"/>
          </a:xfrm>
          <a:prstGeom prst="roundRect">
            <a:avLst>
              <a:gd name="adj" fmla="val 3226"/>
            </a:avLst>
          </a:prstGeom>
          <a:solidFill>
            <a:srgbClr val="12253D"/>
          </a:solidFill>
          <a:ln w="12700">
            <a:solidFill>
              <a:srgbClr val="065A82"/>
            </a:solidFill>
            <a:prstDash val="solid"/>
          </a:ln>
        </p:spPr>
      </p:sp>
      <p:sp>
        <p:nvSpPr>
          <p:cNvPr id="11" name="Text 9"/>
          <p:cNvSpPr/>
          <p:nvPr/>
        </p:nvSpPr>
        <p:spPr>
          <a:xfrm>
            <a:off x="9006840" y="2148840"/>
            <a:ext cx="2468880" cy="292608"/>
          </a:xfrm>
          <a:prstGeom prst="rect">
            <a:avLst/>
          </a:prstGeom>
          <a:noFill/>
          <a:ln/>
        </p:spPr>
        <p:txBody>
          <a:bodyPr wrap="square" rtlCol="0" anchor="ctr"/>
          <a:lstStyle/>
          <a:p>
            <a:pPr indent="0" marL="0">
              <a:buNone/>
            </a:pPr>
            <a:r>
              <a:rPr lang="en-US" sz="1200" b="1" dirty="0">
                <a:solidFill>
                  <a:srgbClr val="00C2A8"/>
                </a:solidFill>
                <a:latin typeface="Calibri" pitchFamily="34" charset="0"/>
                <a:ea typeface="Calibri" pitchFamily="34" charset="-122"/>
                <a:cs typeface="Calibri" pitchFamily="34" charset="-120"/>
              </a:rPr>
              <a:t>Watch for:</a:t>
            </a:r>
            <a:endParaRPr lang="en-US" sz="1200" dirty="0"/>
          </a:p>
        </p:txBody>
      </p:sp>
      <p:sp>
        <p:nvSpPr>
          <p:cNvPr id="12" name="Text 10"/>
          <p:cNvSpPr/>
          <p:nvPr/>
        </p:nvSpPr>
        <p:spPr>
          <a:xfrm>
            <a:off x="9006840" y="2514600"/>
            <a:ext cx="2514600" cy="3566160"/>
          </a:xfrm>
          <a:prstGeom prst="rect">
            <a:avLst/>
          </a:prstGeom>
          <a:noFill/>
          <a:ln/>
        </p:spPr>
        <p:txBody>
          <a:bodyPr wrap="square" rtlCol="0" anchor="t"/>
          <a:lstStyle/>
          <a:p>
            <a:pPr marL="342900" indent="-342900">
              <a:lnSpc>
                <a:spcPct val="125000"/>
              </a:lnSpc>
              <a:spcAft>
                <a:spcPts val="600"/>
              </a:spcAft>
              <a:buSzPct val="100000"/>
              <a:buChar char="●"/>
            </a:pPr>
            <a:r>
              <a:rPr lang="en-US" sz="1200" dirty="0">
                <a:solidFill>
                  <a:srgbClr val="FFFFFF"/>
                </a:solidFill>
                <a:latin typeface="Calibri" pitchFamily="34" charset="0"/>
                <a:ea typeface="Calibri" pitchFamily="34" charset="-122"/>
                <a:cs typeface="Calibri" pitchFamily="34" charset="-120"/>
              </a:rPr>
              <a:t>No login screen</a:t>
            </a:r>
            <a:endParaRPr lang="en-US" sz="1200" dirty="0"/>
          </a:p>
          <a:p>
            <a:pPr marL="342900" indent="-342900">
              <a:lnSpc>
                <a:spcPct val="125000"/>
              </a:lnSpc>
              <a:spcAft>
                <a:spcPts val="600"/>
              </a:spcAft>
              <a:buSzPct val="100000"/>
              <a:buChar char="●"/>
            </a:pPr>
            <a:r>
              <a:rPr lang="en-US" sz="1200" dirty="0">
                <a:solidFill>
                  <a:srgbClr val="FFFFFF"/>
                </a:solidFill>
                <a:latin typeface="Calibri" pitchFamily="34" charset="0"/>
                <a:ea typeface="Calibri" pitchFamily="34" charset="-122"/>
                <a:cs typeface="Calibri" pitchFamily="34" charset="-120"/>
              </a:rPr>
              <a:t>Name + room only</a:t>
            </a:r>
            <a:endParaRPr lang="en-US" sz="1200" dirty="0"/>
          </a:p>
          <a:p>
            <a:pPr marL="342900" indent="-342900">
              <a:lnSpc>
                <a:spcPct val="125000"/>
              </a:lnSpc>
              <a:spcAft>
                <a:spcPts val="600"/>
              </a:spcAft>
              <a:buSzPct val="100000"/>
              <a:buChar char="●"/>
            </a:pPr>
            <a:r>
              <a:rPr lang="en-US" sz="1200" dirty="0">
                <a:solidFill>
                  <a:srgbClr val="FFFFFF"/>
                </a:solidFill>
                <a:latin typeface="Calibri" pitchFamily="34" charset="0"/>
                <a:ea typeface="Calibri" pitchFamily="34" charset="-122"/>
                <a:cs typeface="Calibri" pitchFamily="34" charset="-120"/>
              </a:rPr>
              <a:t>Avatar selector — 6 chars + slot</a:t>
            </a:r>
            <a:endParaRPr lang="en-US" sz="1200" dirty="0"/>
          </a:p>
          <a:p>
            <a:pPr marL="342900" indent="-342900">
              <a:lnSpc>
                <a:spcPct val="125000"/>
              </a:lnSpc>
              <a:spcAft>
                <a:spcPts val="600"/>
              </a:spcAft>
              <a:buSzPct val="100000"/>
              <a:buChar char="●"/>
            </a:pPr>
            <a:r>
              <a:rPr lang="en-US" sz="1200" dirty="0">
                <a:solidFill>
                  <a:srgbClr val="FFFFFF"/>
                </a:solidFill>
                <a:latin typeface="Calibri" pitchFamily="34" charset="0"/>
                <a:ea typeface="Calibri" pitchFamily="34" charset="-122"/>
                <a:cs typeface="Calibri" pitchFamily="34" charset="-120"/>
              </a:rPr>
              <a:t>Top pill: live KB/s</a:t>
            </a:r>
            <a:endParaRPr lang="en-US" sz="1200" dirty="0"/>
          </a:p>
          <a:p>
            <a:pPr marL="342900" indent="-342900">
              <a:lnSpc>
                <a:spcPct val="125000"/>
              </a:lnSpc>
              <a:spcAft>
                <a:spcPts val="600"/>
              </a:spcAft>
              <a:buSzPct val="100000"/>
              <a:buChar char="●"/>
            </a:pPr>
            <a:r>
              <a:rPr lang="en-US" sz="1200" dirty="0">
                <a:solidFill>
                  <a:srgbClr val="00C2A8"/>
                </a:solidFill>
                <a:latin typeface="Calibri" pitchFamily="34" charset="0"/>
                <a:ea typeface="Calibri" pitchFamily="34" charset="-122"/>
                <a:cs typeface="Calibri" pitchFamily="34" charset="-120"/>
              </a:rPr>
              <a:t>Bottom-left lock badge — "raw camera never leaves this phone"</a:t>
            </a:r>
            <a:endParaRPr lang="en-US" sz="1200" dirty="0"/>
          </a:p>
        </p:txBody>
      </p:sp>
      <p:sp>
        <p:nvSpPr>
          <p:cNvPr id="13" name="Text 11"/>
          <p:cNvSpPr/>
          <p:nvPr/>
        </p:nvSpPr>
        <p:spPr>
          <a:xfrm>
            <a:off x="10972800" y="6446520"/>
            <a:ext cx="1005840" cy="274320"/>
          </a:xfrm>
          <a:prstGeom prst="rect">
            <a:avLst/>
          </a:prstGeom>
          <a:noFill/>
          <a:ln/>
        </p:spPr>
        <p:txBody>
          <a:bodyPr wrap="square" rtlCol="0" anchor="ctr"/>
          <a:lstStyle/>
          <a:p>
            <a:pPr algn="r" indent="0" marL="0">
              <a:buNone/>
            </a:pPr>
            <a:r>
              <a:rPr lang="en-US" sz="1000" dirty="0">
                <a:solidFill>
                  <a:srgbClr val="8FA3BF"/>
                </a:solidFill>
                <a:latin typeface="Calibri" pitchFamily="34" charset="0"/>
                <a:ea typeface="Calibri" pitchFamily="34" charset="-122"/>
                <a:cs typeface="Calibri" pitchFamily="34" charset="-120"/>
              </a:rPr>
              <a:t>5 / 9</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E1A2B"/>
        </a:solidFill>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065A82"/>
          </a:solidFill>
          <a:ln/>
        </p:spPr>
      </p:sp>
      <p:sp>
        <p:nvSpPr>
          <p:cNvPr id="3" name="Text 1"/>
          <p:cNvSpPr/>
          <p:nvPr/>
        </p:nvSpPr>
        <p:spPr>
          <a:xfrm>
            <a:off x="411480" y="274320"/>
            <a:ext cx="10972800" cy="365760"/>
          </a:xfrm>
          <a:prstGeom prst="rect">
            <a:avLst/>
          </a:prstGeom>
          <a:noFill/>
          <a:ln/>
        </p:spPr>
        <p:txBody>
          <a:bodyPr wrap="square" rtlCol="0" anchor="ctr"/>
          <a:lstStyle/>
          <a:p>
            <a:pPr indent="0" marL="0">
              <a:buNone/>
            </a:pPr>
            <a:r>
              <a:rPr lang="en-US" sz="1300" b="1" dirty="0">
                <a:solidFill>
                  <a:srgbClr val="00C2A8"/>
                </a:solidFill>
                <a:latin typeface="Calibri" pitchFamily="34" charset="0"/>
                <a:ea typeface="Calibri" pitchFamily="34" charset="-122"/>
                <a:cs typeface="Calibri" pitchFamily="34" charset="-120"/>
              </a:rPr>
              <a:t>05 · LIVE — FACE  →  AVATAR MIRRORING</a:t>
            </a:r>
            <a:endParaRPr lang="en-US" sz="1300" dirty="0"/>
          </a:p>
        </p:txBody>
      </p:sp>
      <p:sp>
        <p:nvSpPr>
          <p:cNvPr id="4" name="Text 2"/>
          <p:cNvSpPr/>
          <p:nvPr/>
        </p:nvSpPr>
        <p:spPr>
          <a:xfrm>
            <a:off x="548640" y="777240"/>
            <a:ext cx="10972800" cy="594360"/>
          </a:xfrm>
          <a:prstGeom prst="rect">
            <a:avLst/>
          </a:prstGeom>
          <a:noFill/>
          <a:ln/>
        </p:spPr>
        <p:txBody>
          <a:bodyPr wrap="square" rtlCol="0" anchor="ctr"/>
          <a:lstStyle/>
          <a:p>
            <a:pPr indent="0" marL="0">
              <a:buNone/>
            </a:pPr>
            <a:r>
              <a:rPr lang="en-US" sz="2600" b="1" dirty="0">
                <a:solidFill>
                  <a:srgbClr val="FFFFFF"/>
                </a:solidFill>
                <a:latin typeface="Georgia" pitchFamily="34" charset="0"/>
                <a:ea typeface="Georgia" pitchFamily="34" charset="-122"/>
                <a:cs typeface="Georgia" pitchFamily="34" charset="-120"/>
              </a:rPr>
              <a:t>Demo 2  ·  my face   ⇄   remote avatar  (real time)</a:t>
            </a:r>
            <a:endParaRPr lang="en-US" sz="2600" dirty="0"/>
          </a:p>
        </p:txBody>
      </p:sp>
      <p:sp>
        <p:nvSpPr>
          <p:cNvPr id="5" name="Shape 3"/>
          <p:cNvSpPr/>
          <p:nvPr/>
        </p:nvSpPr>
        <p:spPr>
          <a:xfrm>
            <a:off x="502920" y="1874520"/>
            <a:ext cx="5120640" cy="4297680"/>
          </a:xfrm>
          <a:prstGeom prst="roundRect">
            <a:avLst>
              <a:gd name="adj" fmla="val 2553"/>
            </a:avLst>
          </a:prstGeom>
          <a:solidFill>
            <a:srgbClr val="13243A"/>
          </a:solidFill>
          <a:ln w="25400">
            <a:solidFill>
              <a:srgbClr val="1C7293"/>
            </a:solidFill>
            <a:prstDash val="dash"/>
          </a:ln>
        </p:spPr>
      </p:sp>
      <p:sp>
        <p:nvSpPr>
          <p:cNvPr id="6" name="Text 4"/>
          <p:cNvSpPr/>
          <p:nvPr/>
        </p:nvSpPr>
        <p:spPr>
          <a:xfrm>
            <a:off x="502920" y="3703320"/>
            <a:ext cx="5120640" cy="914400"/>
          </a:xfrm>
          <a:prstGeom prst="rect">
            <a:avLst/>
          </a:prstGeom>
          <a:noFill/>
          <a:ln/>
        </p:spPr>
        <p:txBody>
          <a:bodyPr wrap="square" rtlCol="0" anchor="ctr"/>
          <a:lstStyle/>
          <a:p>
            <a:pPr algn="ctr" indent="0" marL="0">
              <a:buNone/>
            </a:pPr>
            <a:r>
              <a:rPr lang="en-US" sz="2200" b="1" dirty="0">
                <a:solidFill>
                  <a:srgbClr val="00C2A8"/>
                </a:solidFill>
                <a:latin typeface="Georgia" pitchFamily="34" charset="0"/>
                <a:ea typeface="Georgia" pitchFamily="34" charset="-122"/>
                <a:cs typeface="Georgia" pitchFamily="34" charset="-120"/>
              </a:rPr>
              <a:t>▶  My face</a:t>
            </a:r>
            <a:endParaRPr lang="en-US" sz="2200" dirty="0"/>
          </a:p>
          <a:p>
            <a:pPr algn="ctr" indent="0" marL="0">
              <a:buNone/>
            </a:pPr>
            <a:r>
              <a:rPr lang="en-US" sz="2200" b="1" dirty="0">
                <a:solidFill>
                  <a:srgbClr val="00C2A8"/>
                </a:solidFill>
                <a:latin typeface="Georgia" pitchFamily="34" charset="0"/>
                <a:ea typeface="Georgia" pitchFamily="34" charset="-122"/>
                <a:cs typeface="Georgia" pitchFamily="34" charset="-120"/>
              </a:rPr>
              <a:t>(11.mov clip)</a:t>
            </a:r>
            <a:endParaRPr lang="en-US" sz="2200" dirty="0"/>
          </a:p>
        </p:txBody>
      </p:sp>
      <p:sp>
        <p:nvSpPr>
          <p:cNvPr id="7" name="Shape 5"/>
          <p:cNvSpPr/>
          <p:nvPr/>
        </p:nvSpPr>
        <p:spPr>
          <a:xfrm>
            <a:off x="7040880" y="1874520"/>
            <a:ext cx="5120640" cy="4297680"/>
          </a:xfrm>
          <a:prstGeom prst="roundRect">
            <a:avLst>
              <a:gd name="adj" fmla="val 2553"/>
            </a:avLst>
          </a:prstGeom>
          <a:solidFill>
            <a:srgbClr val="13243A"/>
          </a:solidFill>
          <a:ln w="25400">
            <a:solidFill>
              <a:srgbClr val="1C7293"/>
            </a:solidFill>
            <a:prstDash val="dash"/>
          </a:ln>
        </p:spPr>
      </p:sp>
      <p:sp>
        <p:nvSpPr>
          <p:cNvPr id="8" name="Text 6"/>
          <p:cNvSpPr/>
          <p:nvPr/>
        </p:nvSpPr>
        <p:spPr>
          <a:xfrm>
            <a:off x="7040880" y="3703320"/>
            <a:ext cx="5120640" cy="914400"/>
          </a:xfrm>
          <a:prstGeom prst="rect">
            <a:avLst/>
          </a:prstGeom>
          <a:noFill/>
          <a:ln/>
        </p:spPr>
        <p:txBody>
          <a:bodyPr wrap="square" rtlCol="0" anchor="ctr"/>
          <a:lstStyle/>
          <a:p>
            <a:pPr algn="ctr" indent="0" marL="0">
              <a:buNone/>
            </a:pPr>
            <a:r>
              <a:rPr lang="en-US" sz="2200" b="1" dirty="0">
                <a:solidFill>
                  <a:srgbClr val="00C2A8"/>
                </a:solidFill>
                <a:latin typeface="Georgia" pitchFamily="34" charset="0"/>
                <a:ea typeface="Georgia" pitchFamily="34" charset="-122"/>
                <a:cs typeface="Georgia" pitchFamily="34" charset="-120"/>
              </a:rPr>
              <a:t>▶  Remote avatar</a:t>
            </a:r>
            <a:endParaRPr lang="en-US" sz="2200" dirty="0"/>
          </a:p>
          <a:p>
            <a:pPr algn="ctr" indent="0" marL="0">
              <a:buNone/>
            </a:pPr>
            <a:r>
              <a:rPr lang="en-US" sz="2200" b="1" dirty="0">
                <a:solidFill>
                  <a:srgbClr val="00C2A8"/>
                </a:solidFill>
                <a:latin typeface="Georgia" pitchFamily="34" charset="0"/>
                <a:ea typeface="Georgia" pitchFamily="34" charset="-122"/>
                <a:cs typeface="Georgia" pitchFamily="34" charset="-120"/>
              </a:rPr>
              <a:t>(rendered from 52-d packet)</a:t>
            </a:r>
            <a:endParaRPr lang="en-US" sz="2200" dirty="0"/>
          </a:p>
        </p:txBody>
      </p:sp>
      <p:sp>
        <p:nvSpPr>
          <p:cNvPr id="9" name="Shape 7"/>
          <p:cNvSpPr/>
          <p:nvPr/>
        </p:nvSpPr>
        <p:spPr>
          <a:xfrm>
            <a:off x="5669280" y="3657600"/>
            <a:ext cx="1325880" cy="914400"/>
          </a:xfrm>
          <a:prstGeom prst="roundRect">
            <a:avLst>
              <a:gd name="adj" fmla="val 10000"/>
            </a:avLst>
          </a:prstGeom>
          <a:solidFill>
            <a:srgbClr val="12253D"/>
          </a:solidFill>
          <a:ln w="12700">
            <a:solidFill>
              <a:srgbClr val="F2A65A"/>
            </a:solidFill>
            <a:prstDash val="solid"/>
          </a:ln>
        </p:spPr>
      </p:sp>
      <p:sp>
        <p:nvSpPr>
          <p:cNvPr id="10" name="Text 8"/>
          <p:cNvSpPr/>
          <p:nvPr/>
        </p:nvSpPr>
        <p:spPr>
          <a:xfrm>
            <a:off x="5623560" y="3703320"/>
            <a:ext cx="1417320" cy="365760"/>
          </a:xfrm>
          <a:prstGeom prst="rect">
            <a:avLst/>
          </a:prstGeom>
          <a:noFill/>
          <a:ln/>
        </p:spPr>
        <p:txBody>
          <a:bodyPr wrap="square" rtlCol="0" anchor="ctr"/>
          <a:lstStyle/>
          <a:p>
            <a:pPr algn="ctr" indent="0" marL="0">
              <a:buNone/>
            </a:pPr>
            <a:r>
              <a:rPr lang="en-US" sz="1800" b="1" dirty="0">
                <a:solidFill>
                  <a:srgbClr val="F2A65A"/>
                </a:solidFill>
                <a:latin typeface="Georgia" pitchFamily="34" charset="0"/>
                <a:ea typeface="Georgia" pitchFamily="34" charset="-122"/>
                <a:cs typeface="Georgia" pitchFamily="34" charset="-120"/>
              </a:rPr>
              <a:t>52-d</a:t>
            </a:r>
            <a:endParaRPr lang="en-US" sz="1800" dirty="0"/>
          </a:p>
        </p:txBody>
      </p:sp>
      <p:sp>
        <p:nvSpPr>
          <p:cNvPr id="11" name="Text 9"/>
          <p:cNvSpPr/>
          <p:nvPr/>
        </p:nvSpPr>
        <p:spPr>
          <a:xfrm>
            <a:off x="5623560" y="4041648"/>
            <a:ext cx="1417320" cy="548640"/>
          </a:xfrm>
          <a:prstGeom prst="rect">
            <a:avLst/>
          </a:prstGeom>
          <a:noFill/>
          <a:ln/>
        </p:spPr>
        <p:txBody>
          <a:bodyPr wrap="square" rtlCol="0" anchor="ctr"/>
          <a:lstStyle/>
          <a:p>
            <a:pPr algn="ctr" indent="0" marL="0">
              <a:buNone/>
            </a:pPr>
            <a:r>
              <a:rPr lang="en-US" sz="1000" dirty="0">
                <a:solidFill>
                  <a:srgbClr val="CADCFC"/>
                </a:solidFill>
                <a:latin typeface="Calibri" pitchFamily="34" charset="0"/>
                <a:ea typeface="Calibri" pitchFamily="34" charset="-122"/>
                <a:cs typeface="Calibri" pitchFamily="34" charset="-120"/>
              </a:rPr>
              <a:t>233 B / pkt</a:t>
            </a:r>
            <a:endParaRPr lang="en-US" sz="1000" dirty="0"/>
          </a:p>
          <a:p>
            <a:pPr algn="ctr" indent="0" marL="0">
              <a:buNone/>
            </a:pPr>
            <a:r>
              <a:rPr lang="en-US" sz="1000" dirty="0">
                <a:solidFill>
                  <a:srgbClr val="CADCFC"/>
                </a:solidFill>
                <a:latin typeface="Calibri" pitchFamily="34" charset="0"/>
                <a:ea typeface="Calibri" pitchFamily="34" charset="-122"/>
                <a:cs typeface="Calibri" pitchFamily="34" charset="-120"/>
              </a:rPr>
              <a:t>@ 24 Hz</a:t>
            </a:r>
            <a:endParaRPr lang="en-US" sz="1000" dirty="0"/>
          </a:p>
        </p:txBody>
      </p:sp>
      <p:sp>
        <p:nvSpPr>
          <p:cNvPr id="12" name="Text 10"/>
          <p:cNvSpPr/>
          <p:nvPr/>
        </p:nvSpPr>
        <p:spPr>
          <a:xfrm>
            <a:off x="548640" y="6263640"/>
            <a:ext cx="11155680" cy="320040"/>
          </a:xfrm>
          <a:prstGeom prst="rect">
            <a:avLst/>
          </a:prstGeom>
          <a:noFill/>
          <a:ln/>
        </p:spPr>
        <p:txBody>
          <a:bodyPr wrap="square" rtlCol="0" anchor="ctr"/>
          <a:lstStyle/>
          <a:p>
            <a:pPr algn="ctr" indent="0" marL="0">
              <a:buNone/>
            </a:pPr>
            <a:r>
              <a:rPr lang="en-US" sz="1300" i="1" dirty="0">
                <a:solidFill>
                  <a:srgbClr val="CADCFC"/>
                </a:solidFill>
                <a:latin typeface="Calibri" pitchFamily="34" charset="0"/>
                <a:ea typeface="Calibri" pitchFamily="34" charset="-122"/>
                <a:cs typeface="Calibri" pitchFamily="34" charset="-120"/>
              </a:rPr>
              <a:t>233 B / packet  ·  24 Hz  ·  5.6 KB/s  ·  no pixel crosses the network</a:t>
            </a:r>
            <a:endParaRPr lang="en-US" sz="1300" dirty="0"/>
          </a:p>
        </p:txBody>
      </p:sp>
      <p:sp>
        <p:nvSpPr>
          <p:cNvPr id="13" name="Text 11"/>
          <p:cNvSpPr/>
          <p:nvPr/>
        </p:nvSpPr>
        <p:spPr>
          <a:xfrm>
            <a:off x="10972800" y="6446520"/>
            <a:ext cx="1005840" cy="274320"/>
          </a:xfrm>
          <a:prstGeom prst="rect">
            <a:avLst/>
          </a:prstGeom>
          <a:noFill/>
          <a:ln/>
        </p:spPr>
        <p:txBody>
          <a:bodyPr wrap="square" rtlCol="0" anchor="ctr"/>
          <a:lstStyle/>
          <a:p>
            <a:pPr algn="r" indent="0" marL="0">
              <a:buNone/>
            </a:pPr>
            <a:r>
              <a:rPr lang="en-US" sz="1000" dirty="0">
                <a:solidFill>
                  <a:srgbClr val="8FA3BF"/>
                </a:solidFill>
                <a:latin typeface="Calibri" pitchFamily="34" charset="0"/>
                <a:ea typeface="Calibri" pitchFamily="34" charset="-122"/>
                <a:cs typeface="Calibri" pitchFamily="34" charset="-120"/>
              </a:rPr>
              <a:t>6 / 9</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AFC"/>
        </a:solidFill>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065A82"/>
          </a:solidFill>
          <a:ln/>
        </p:spPr>
      </p:sp>
      <p:sp>
        <p:nvSpPr>
          <p:cNvPr id="3" name="Text 1"/>
          <p:cNvSpPr/>
          <p:nvPr/>
        </p:nvSpPr>
        <p:spPr>
          <a:xfrm>
            <a:off x="411480" y="274320"/>
            <a:ext cx="10972800" cy="365760"/>
          </a:xfrm>
          <a:prstGeom prst="rect">
            <a:avLst/>
          </a:prstGeom>
          <a:noFill/>
          <a:ln/>
        </p:spPr>
        <p:txBody>
          <a:bodyPr wrap="square" rtlCol="0" anchor="ctr"/>
          <a:lstStyle/>
          <a:p>
            <a:pPr indent="0" marL="0">
              <a:buNone/>
            </a:pPr>
            <a:r>
              <a:rPr lang="en-US" sz="1300" b="1" dirty="0">
                <a:solidFill>
                  <a:srgbClr val="065A82"/>
                </a:solidFill>
                <a:latin typeface="Calibri" pitchFamily="34" charset="0"/>
                <a:ea typeface="Calibri" pitchFamily="34" charset="-122"/>
                <a:cs typeface="Calibri" pitchFamily="34" charset="-120"/>
              </a:rPr>
              <a:t>06 · RESULTS</a:t>
            </a:r>
            <a:endParaRPr lang="en-US" sz="1300" dirty="0"/>
          </a:p>
        </p:txBody>
      </p:sp>
      <p:sp>
        <p:nvSpPr>
          <p:cNvPr id="4" name="Text 2"/>
          <p:cNvSpPr/>
          <p:nvPr/>
        </p:nvSpPr>
        <p:spPr>
          <a:xfrm>
            <a:off x="548640" y="777240"/>
            <a:ext cx="11338560" cy="548640"/>
          </a:xfrm>
          <a:prstGeom prst="rect">
            <a:avLst/>
          </a:prstGeom>
          <a:noFill/>
          <a:ln/>
        </p:spPr>
        <p:txBody>
          <a:bodyPr wrap="square" rtlCol="0" anchor="ctr"/>
          <a:lstStyle/>
          <a:p>
            <a:pPr indent="0" marL="0">
              <a:buNone/>
            </a:pPr>
            <a:r>
              <a:rPr lang="en-US" sz="2400" b="1" dirty="0">
                <a:solidFill>
                  <a:srgbClr val="21295C"/>
                </a:solidFill>
                <a:latin typeface="Georgia" pitchFamily="34" charset="0"/>
                <a:ea typeface="Georgia" pitchFamily="34" charset="-122"/>
                <a:cs typeface="Georgia" pitchFamily="34" charset="-120"/>
              </a:rPr>
              <a:t>Three KPIs hit, all on the held-out test set + on-device run</a:t>
            </a:r>
            <a:endParaRPr lang="en-US" sz="2400" dirty="0"/>
          </a:p>
        </p:txBody>
      </p:sp>
      <p:sp>
        <p:nvSpPr>
          <p:cNvPr id="5" name="Shape 3"/>
          <p:cNvSpPr/>
          <p:nvPr/>
        </p:nvSpPr>
        <p:spPr>
          <a:xfrm>
            <a:off x="548640" y="1417320"/>
            <a:ext cx="2651760" cy="1371600"/>
          </a:xfrm>
          <a:prstGeom prst="roundRect">
            <a:avLst>
              <a:gd name="adj" fmla="val 8000"/>
            </a:avLst>
          </a:prstGeom>
          <a:solidFill>
            <a:srgbClr val="065A82"/>
          </a:solidFill>
          <a:ln w="12700">
            <a:solidFill>
              <a:srgbClr val="065A82"/>
            </a:solidFill>
            <a:prstDash val="solid"/>
          </a:ln>
        </p:spPr>
      </p:sp>
      <p:sp>
        <p:nvSpPr>
          <p:cNvPr id="6" name="Text 4"/>
          <p:cNvSpPr/>
          <p:nvPr/>
        </p:nvSpPr>
        <p:spPr>
          <a:xfrm>
            <a:off x="548640" y="1508760"/>
            <a:ext cx="2651760" cy="640080"/>
          </a:xfrm>
          <a:prstGeom prst="rect">
            <a:avLst/>
          </a:prstGeom>
          <a:noFill/>
          <a:ln/>
        </p:spPr>
        <p:txBody>
          <a:bodyPr wrap="square" rtlCol="0" anchor="ctr"/>
          <a:lstStyle/>
          <a:p>
            <a:pPr algn="ctr" indent="0" marL="0">
              <a:buNone/>
            </a:pPr>
            <a:r>
              <a:rPr lang="en-US" sz="3000" b="1" dirty="0">
                <a:solidFill>
                  <a:srgbClr val="00C2A8"/>
                </a:solidFill>
                <a:latin typeface="Georgia" pitchFamily="34" charset="0"/>
                <a:ea typeface="Georgia" pitchFamily="34" charset="-122"/>
                <a:cs typeface="Georgia" pitchFamily="34" charset="-120"/>
              </a:rPr>
              <a:t>99.05 %</a:t>
            </a:r>
            <a:endParaRPr lang="en-US" sz="3000" dirty="0"/>
          </a:p>
        </p:txBody>
      </p:sp>
      <p:sp>
        <p:nvSpPr>
          <p:cNvPr id="7" name="Text 5"/>
          <p:cNvSpPr/>
          <p:nvPr/>
        </p:nvSpPr>
        <p:spPr>
          <a:xfrm>
            <a:off x="548640" y="2148840"/>
            <a:ext cx="2651760" cy="320040"/>
          </a:xfrm>
          <a:prstGeom prst="rect">
            <a:avLst/>
          </a:prstGeom>
          <a:noFill/>
          <a:ln/>
        </p:spPr>
        <p:txBody>
          <a:bodyPr wrap="square" rtlCol="0" anchor="ctr"/>
          <a:lstStyle/>
          <a:p>
            <a:pPr algn="ctr" indent="0" marL="0">
              <a:buNone/>
            </a:pPr>
            <a:r>
              <a:rPr lang="en-US" sz="1200" dirty="0">
                <a:solidFill>
                  <a:srgbClr val="FFFFFF"/>
                </a:solidFill>
                <a:latin typeface="Calibri" pitchFamily="34" charset="0"/>
                <a:ea typeface="Calibri" pitchFamily="34" charset="-122"/>
                <a:cs typeface="Calibri" pitchFamily="34" charset="-120"/>
              </a:rPr>
              <a:t>test accuracy</a:t>
            </a:r>
            <a:endParaRPr lang="en-US" sz="1200" dirty="0"/>
          </a:p>
        </p:txBody>
      </p:sp>
      <p:sp>
        <p:nvSpPr>
          <p:cNvPr id="8" name="Text 6"/>
          <p:cNvSpPr/>
          <p:nvPr/>
        </p:nvSpPr>
        <p:spPr>
          <a:xfrm>
            <a:off x="548640" y="2468880"/>
            <a:ext cx="2651760" cy="274320"/>
          </a:xfrm>
          <a:prstGeom prst="rect">
            <a:avLst/>
          </a:prstGeom>
          <a:noFill/>
          <a:ln/>
        </p:spPr>
        <p:txBody>
          <a:bodyPr wrap="square" rtlCol="0" anchor="ctr"/>
          <a:lstStyle/>
          <a:p>
            <a:pPr algn="ctr" indent="0" marL="0">
              <a:buNone/>
            </a:pPr>
            <a:r>
              <a:rPr lang="en-US" sz="1000" i="1" dirty="0">
                <a:solidFill>
                  <a:srgbClr val="CADCFC"/>
                </a:solidFill>
                <a:latin typeface="Calibri" pitchFamily="34" charset="0"/>
                <a:ea typeface="Calibri" pitchFamily="34" charset="-122"/>
                <a:cs typeface="Calibri" pitchFamily="34" charset="-120"/>
              </a:rPr>
              <a:t>vs 0.95 target</a:t>
            </a:r>
            <a:endParaRPr lang="en-US" sz="1000" dirty="0"/>
          </a:p>
        </p:txBody>
      </p:sp>
      <p:sp>
        <p:nvSpPr>
          <p:cNvPr id="9" name="Shape 7"/>
          <p:cNvSpPr/>
          <p:nvPr/>
        </p:nvSpPr>
        <p:spPr>
          <a:xfrm>
            <a:off x="3383280" y="1417320"/>
            <a:ext cx="2651760" cy="1371600"/>
          </a:xfrm>
          <a:prstGeom prst="roundRect">
            <a:avLst>
              <a:gd name="adj" fmla="val 8000"/>
            </a:avLst>
          </a:prstGeom>
          <a:solidFill>
            <a:srgbClr val="065A82"/>
          </a:solidFill>
          <a:ln w="12700">
            <a:solidFill>
              <a:srgbClr val="065A82"/>
            </a:solidFill>
            <a:prstDash val="solid"/>
          </a:ln>
        </p:spPr>
      </p:sp>
      <p:sp>
        <p:nvSpPr>
          <p:cNvPr id="10" name="Text 8"/>
          <p:cNvSpPr/>
          <p:nvPr/>
        </p:nvSpPr>
        <p:spPr>
          <a:xfrm>
            <a:off x="3383280" y="1508760"/>
            <a:ext cx="2651760" cy="640080"/>
          </a:xfrm>
          <a:prstGeom prst="rect">
            <a:avLst/>
          </a:prstGeom>
          <a:noFill/>
          <a:ln/>
        </p:spPr>
        <p:txBody>
          <a:bodyPr wrap="square" rtlCol="0" anchor="ctr"/>
          <a:lstStyle/>
          <a:p>
            <a:pPr algn="ctr" indent="0" marL="0">
              <a:buNone/>
            </a:pPr>
            <a:r>
              <a:rPr lang="en-US" sz="3000" b="1" dirty="0">
                <a:solidFill>
                  <a:srgbClr val="00C2A8"/>
                </a:solidFill>
                <a:latin typeface="Georgia" pitchFamily="34" charset="0"/>
                <a:ea typeface="Georgia" pitchFamily="34" charset="-122"/>
                <a:cs typeface="Georgia" pitchFamily="34" charset="-120"/>
              </a:rPr>
              <a:t>0.9903</a:t>
            </a:r>
            <a:endParaRPr lang="en-US" sz="3000" dirty="0"/>
          </a:p>
        </p:txBody>
      </p:sp>
      <p:sp>
        <p:nvSpPr>
          <p:cNvPr id="11" name="Text 9"/>
          <p:cNvSpPr/>
          <p:nvPr/>
        </p:nvSpPr>
        <p:spPr>
          <a:xfrm>
            <a:off x="3383280" y="2148840"/>
            <a:ext cx="2651760" cy="320040"/>
          </a:xfrm>
          <a:prstGeom prst="rect">
            <a:avLst/>
          </a:prstGeom>
          <a:noFill/>
          <a:ln/>
        </p:spPr>
        <p:txBody>
          <a:bodyPr wrap="square" rtlCol="0" anchor="ctr"/>
          <a:lstStyle/>
          <a:p>
            <a:pPr algn="ctr" indent="0" marL="0">
              <a:buNone/>
            </a:pPr>
            <a:r>
              <a:rPr lang="en-US" sz="1200" dirty="0">
                <a:solidFill>
                  <a:srgbClr val="FFFFFF"/>
                </a:solidFill>
                <a:latin typeface="Calibri" pitchFamily="34" charset="0"/>
                <a:ea typeface="Calibri" pitchFamily="34" charset="-122"/>
                <a:cs typeface="Calibri" pitchFamily="34" charset="-120"/>
              </a:rPr>
              <a:t>macro-F1</a:t>
            </a:r>
            <a:endParaRPr lang="en-US" sz="1200" dirty="0"/>
          </a:p>
        </p:txBody>
      </p:sp>
      <p:sp>
        <p:nvSpPr>
          <p:cNvPr id="12" name="Text 10"/>
          <p:cNvSpPr/>
          <p:nvPr/>
        </p:nvSpPr>
        <p:spPr>
          <a:xfrm>
            <a:off x="3383280" y="2468880"/>
            <a:ext cx="2651760" cy="274320"/>
          </a:xfrm>
          <a:prstGeom prst="rect">
            <a:avLst/>
          </a:prstGeom>
          <a:noFill/>
          <a:ln/>
        </p:spPr>
        <p:txBody>
          <a:bodyPr wrap="square" rtlCol="0" anchor="ctr"/>
          <a:lstStyle/>
          <a:p>
            <a:pPr algn="ctr" indent="0" marL="0">
              <a:buNone/>
            </a:pPr>
            <a:r>
              <a:rPr lang="en-US" sz="1000" i="1" dirty="0">
                <a:solidFill>
                  <a:srgbClr val="CADCFC"/>
                </a:solidFill>
                <a:latin typeface="Calibri" pitchFamily="34" charset="0"/>
                <a:ea typeface="Calibri" pitchFamily="34" charset="-122"/>
                <a:cs typeface="Calibri" pitchFamily="34" charset="-120"/>
              </a:rPr>
              <a:t>8 classes balanced</a:t>
            </a:r>
            <a:endParaRPr lang="en-US" sz="1000" dirty="0"/>
          </a:p>
        </p:txBody>
      </p:sp>
      <p:sp>
        <p:nvSpPr>
          <p:cNvPr id="13" name="Shape 11"/>
          <p:cNvSpPr/>
          <p:nvPr/>
        </p:nvSpPr>
        <p:spPr>
          <a:xfrm>
            <a:off x="6217920" y="1417320"/>
            <a:ext cx="2651760" cy="1371600"/>
          </a:xfrm>
          <a:prstGeom prst="roundRect">
            <a:avLst>
              <a:gd name="adj" fmla="val 8000"/>
            </a:avLst>
          </a:prstGeom>
          <a:solidFill>
            <a:srgbClr val="065A82"/>
          </a:solidFill>
          <a:ln w="12700">
            <a:solidFill>
              <a:srgbClr val="065A82"/>
            </a:solidFill>
            <a:prstDash val="solid"/>
          </a:ln>
        </p:spPr>
      </p:sp>
      <p:sp>
        <p:nvSpPr>
          <p:cNvPr id="14" name="Text 12"/>
          <p:cNvSpPr/>
          <p:nvPr/>
        </p:nvSpPr>
        <p:spPr>
          <a:xfrm>
            <a:off x="6217920" y="1508760"/>
            <a:ext cx="2651760" cy="640080"/>
          </a:xfrm>
          <a:prstGeom prst="rect">
            <a:avLst/>
          </a:prstGeom>
          <a:noFill/>
          <a:ln/>
        </p:spPr>
        <p:txBody>
          <a:bodyPr wrap="square" rtlCol="0" anchor="ctr"/>
          <a:lstStyle/>
          <a:p>
            <a:pPr algn="ctr" indent="0" marL="0">
              <a:buNone/>
            </a:pPr>
            <a:r>
              <a:rPr lang="en-US" sz="3000" b="1" dirty="0">
                <a:solidFill>
                  <a:srgbClr val="00C2A8"/>
                </a:solidFill>
                <a:latin typeface="Georgia" pitchFamily="34" charset="0"/>
                <a:ea typeface="Georgia" pitchFamily="34" charset="-122"/>
                <a:cs typeface="Georgia" pitchFamily="34" charset="-120"/>
              </a:rPr>
              <a:t>33.5 ms</a:t>
            </a:r>
            <a:endParaRPr lang="en-US" sz="3000" dirty="0"/>
          </a:p>
        </p:txBody>
      </p:sp>
      <p:sp>
        <p:nvSpPr>
          <p:cNvPr id="15" name="Text 13"/>
          <p:cNvSpPr/>
          <p:nvPr/>
        </p:nvSpPr>
        <p:spPr>
          <a:xfrm>
            <a:off x="6217920" y="2148840"/>
            <a:ext cx="2651760" cy="320040"/>
          </a:xfrm>
          <a:prstGeom prst="rect">
            <a:avLst/>
          </a:prstGeom>
          <a:noFill/>
          <a:ln/>
        </p:spPr>
        <p:txBody>
          <a:bodyPr wrap="square" rtlCol="0" anchor="ctr"/>
          <a:lstStyle/>
          <a:p>
            <a:pPr algn="ctr" indent="0" marL="0">
              <a:buNone/>
            </a:pPr>
            <a:r>
              <a:rPr lang="en-US" sz="1200" dirty="0">
                <a:solidFill>
                  <a:srgbClr val="FFFFFF"/>
                </a:solidFill>
                <a:latin typeface="Calibri" pitchFamily="34" charset="0"/>
                <a:ea typeface="Calibri" pitchFamily="34" charset="-122"/>
                <a:cs typeface="Calibri" pitchFamily="34" charset="-120"/>
              </a:rPr>
              <a:t>P50 end-to-end</a:t>
            </a:r>
            <a:endParaRPr lang="en-US" sz="1200" dirty="0"/>
          </a:p>
        </p:txBody>
      </p:sp>
      <p:sp>
        <p:nvSpPr>
          <p:cNvPr id="16" name="Text 14"/>
          <p:cNvSpPr/>
          <p:nvPr/>
        </p:nvSpPr>
        <p:spPr>
          <a:xfrm>
            <a:off x="6217920" y="2468880"/>
            <a:ext cx="2651760" cy="274320"/>
          </a:xfrm>
          <a:prstGeom prst="rect">
            <a:avLst/>
          </a:prstGeom>
          <a:noFill/>
          <a:ln/>
        </p:spPr>
        <p:txBody>
          <a:bodyPr wrap="square" rtlCol="0" anchor="ctr"/>
          <a:lstStyle/>
          <a:p>
            <a:pPr algn="ctr" indent="0" marL="0">
              <a:buNone/>
            </a:pPr>
            <a:r>
              <a:rPr lang="en-US" sz="1000" i="1" dirty="0">
                <a:solidFill>
                  <a:srgbClr val="CADCFC"/>
                </a:solidFill>
                <a:latin typeface="Calibri" pitchFamily="34" charset="0"/>
                <a:ea typeface="Calibri" pitchFamily="34" charset="-122"/>
                <a:cs typeface="Calibri" pitchFamily="34" charset="-120"/>
              </a:rPr>
              <a:t>30 fps budget</a:t>
            </a:r>
            <a:endParaRPr lang="en-US" sz="1000" dirty="0"/>
          </a:p>
        </p:txBody>
      </p:sp>
      <p:sp>
        <p:nvSpPr>
          <p:cNvPr id="17" name="Shape 15"/>
          <p:cNvSpPr/>
          <p:nvPr/>
        </p:nvSpPr>
        <p:spPr>
          <a:xfrm>
            <a:off x="9052560" y="1417320"/>
            <a:ext cx="2651760" cy="1371600"/>
          </a:xfrm>
          <a:prstGeom prst="roundRect">
            <a:avLst>
              <a:gd name="adj" fmla="val 8000"/>
            </a:avLst>
          </a:prstGeom>
          <a:solidFill>
            <a:srgbClr val="065A82"/>
          </a:solidFill>
          <a:ln w="12700">
            <a:solidFill>
              <a:srgbClr val="065A82"/>
            </a:solidFill>
            <a:prstDash val="solid"/>
          </a:ln>
        </p:spPr>
      </p:sp>
      <p:sp>
        <p:nvSpPr>
          <p:cNvPr id="18" name="Text 16"/>
          <p:cNvSpPr/>
          <p:nvPr/>
        </p:nvSpPr>
        <p:spPr>
          <a:xfrm>
            <a:off x="9052560" y="1508760"/>
            <a:ext cx="2651760" cy="640080"/>
          </a:xfrm>
          <a:prstGeom prst="rect">
            <a:avLst/>
          </a:prstGeom>
          <a:noFill/>
          <a:ln/>
        </p:spPr>
        <p:txBody>
          <a:bodyPr wrap="square" rtlCol="0" anchor="ctr"/>
          <a:lstStyle/>
          <a:p>
            <a:pPr algn="ctr" indent="0" marL="0">
              <a:buNone/>
            </a:pPr>
            <a:r>
              <a:rPr lang="en-US" sz="3000" b="1" dirty="0">
                <a:solidFill>
                  <a:srgbClr val="00C2A8"/>
                </a:solidFill>
                <a:latin typeface="Georgia" pitchFamily="34" charset="0"/>
                <a:ea typeface="Georgia" pitchFamily="34" charset="-122"/>
                <a:cs typeface="Georgia" pitchFamily="34" charset="-120"/>
              </a:rPr>
              <a:t>5.6 KB/s</a:t>
            </a:r>
            <a:endParaRPr lang="en-US" sz="3000" dirty="0"/>
          </a:p>
        </p:txBody>
      </p:sp>
      <p:sp>
        <p:nvSpPr>
          <p:cNvPr id="19" name="Text 17"/>
          <p:cNvSpPr/>
          <p:nvPr/>
        </p:nvSpPr>
        <p:spPr>
          <a:xfrm>
            <a:off x="9052560" y="2148840"/>
            <a:ext cx="2651760" cy="320040"/>
          </a:xfrm>
          <a:prstGeom prst="rect">
            <a:avLst/>
          </a:prstGeom>
          <a:noFill/>
          <a:ln/>
        </p:spPr>
        <p:txBody>
          <a:bodyPr wrap="square" rtlCol="0" anchor="ctr"/>
          <a:lstStyle/>
          <a:p>
            <a:pPr algn="ctr" indent="0" marL="0">
              <a:buNone/>
            </a:pPr>
            <a:r>
              <a:rPr lang="en-US" sz="1200" dirty="0">
                <a:solidFill>
                  <a:srgbClr val="FFFFFF"/>
                </a:solidFill>
                <a:latin typeface="Calibri" pitchFamily="34" charset="0"/>
                <a:ea typeface="Calibri" pitchFamily="34" charset="-122"/>
                <a:cs typeface="Calibri" pitchFamily="34" charset="-120"/>
              </a:rPr>
              <a:t>bandwidth</a:t>
            </a:r>
            <a:endParaRPr lang="en-US" sz="1200" dirty="0"/>
          </a:p>
        </p:txBody>
      </p:sp>
      <p:sp>
        <p:nvSpPr>
          <p:cNvPr id="20" name="Text 18"/>
          <p:cNvSpPr/>
          <p:nvPr/>
        </p:nvSpPr>
        <p:spPr>
          <a:xfrm>
            <a:off x="9052560" y="2468880"/>
            <a:ext cx="2651760" cy="274320"/>
          </a:xfrm>
          <a:prstGeom prst="rect">
            <a:avLst/>
          </a:prstGeom>
          <a:noFill/>
          <a:ln/>
        </p:spPr>
        <p:txBody>
          <a:bodyPr wrap="square" rtlCol="0" anchor="ctr"/>
          <a:lstStyle/>
          <a:p>
            <a:pPr algn="ctr" indent="0" marL="0">
              <a:buNone/>
            </a:pPr>
            <a:r>
              <a:rPr lang="en-US" sz="1000" i="1" dirty="0">
                <a:solidFill>
                  <a:srgbClr val="CADCFC"/>
                </a:solidFill>
                <a:latin typeface="Calibri" pitchFamily="34" charset="0"/>
                <a:ea typeface="Calibri" pitchFamily="34" charset="-122"/>
                <a:cs typeface="Calibri" pitchFamily="34" charset="-120"/>
              </a:rPr>
              <a:t>≈ 0.4 % of 720 p Zoom</a:t>
            </a:r>
            <a:endParaRPr lang="en-US" sz="1000" dirty="0"/>
          </a:p>
        </p:txBody>
      </p:sp>
      <p:pic>
        <p:nvPicPr>
          <p:cNvPr id="21" name="Image 0" descr="/sessions/dreamy-wizardly-wright/mnt/outputs/ppt_build/assets/confmat.png">    </p:cNvPr>
          <p:cNvPicPr>
            <a:picLocks noChangeAspect="1"/>
          </p:cNvPicPr>
          <p:nvPr/>
        </p:nvPicPr>
        <p:blipFill>
          <a:blip r:embed="rId1"/>
          <a:stretch>
            <a:fillRect/>
          </a:stretch>
        </p:blipFill>
        <p:spPr>
          <a:xfrm>
            <a:off x="548640" y="3017520"/>
            <a:ext cx="5120640" cy="3200400"/>
          </a:xfrm>
          <a:prstGeom prst="rect">
            <a:avLst/>
          </a:prstGeom>
        </p:spPr>
      </p:pic>
      <p:sp>
        <p:nvSpPr>
          <p:cNvPr id="22" name="Text 19"/>
          <p:cNvSpPr/>
          <p:nvPr/>
        </p:nvSpPr>
        <p:spPr>
          <a:xfrm>
            <a:off x="548640" y="6263640"/>
            <a:ext cx="5120640" cy="274320"/>
          </a:xfrm>
          <a:prstGeom prst="rect">
            <a:avLst/>
          </a:prstGeom>
          <a:noFill/>
          <a:ln/>
        </p:spPr>
        <p:txBody>
          <a:bodyPr wrap="square" rtlCol="0" anchor="ctr"/>
          <a:lstStyle/>
          <a:p>
            <a:pPr algn="ctr" indent="0" marL="0">
              <a:buNone/>
            </a:pPr>
            <a:r>
              <a:rPr lang="en-US" sz="1050" i="1" dirty="0">
                <a:solidFill>
                  <a:srgbClr val="425568"/>
                </a:solidFill>
                <a:latin typeface="Calibri" pitchFamily="34" charset="0"/>
                <a:ea typeface="Calibri" pitchFamily="34" charset="-122"/>
                <a:cs typeface="Calibri" pitchFamily="34" charset="-120"/>
              </a:rPr>
              <a:t>Confusion matrix (315 windows) — 3 misses fall into low-energy columns</a:t>
            </a:r>
            <a:endParaRPr lang="en-US" sz="1050" dirty="0"/>
          </a:p>
        </p:txBody>
      </p:sp>
      <p:pic>
        <p:nvPicPr>
          <p:cNvPr id="23" name="Image 1" descr="/sessions/dreamy-wizardly-wright/mnt/outputs/ppt_build/assets/latency.png">    </p:cNvPr>
          <p:cNvPicPr>
            <a:picLocks noChangeAspect="1"/>
          </p:cNvPicPr>
          <p:nvPr/>
        </p:nvPicPr>
        <p:blipFill>
          <a:blip r:embed="rId2"/>
          <a:stretch>
            <a:fillRect/>
          </a:stretch>
        </p:blipFill>
        <p:spPr>
          <a:xfrm>
            <a:off x="6035040" y="3017520"/>
            <a:ext cx="5669280" cy="3200400"/>
          </a:xfrm>
          <a:prstGeom prst="rect">
            <a:avLst/>
          </a:prstGeom>
        </p:spPr>
      </p:pic>
      <p:sp>
        <p:nvSpPr>
          <p:cNvPr id="24" name="Text 20"/>
          <p:cNvSpPr/>
          <p:nvPr/>
        </p:nvSpPr>
        <p:spPr>
          <a:xfrm>
            <a:off x="6035040" y="6263640"/>
            <a:ext cx="5669280" cy="274320"/>
          </a:xfrm>
          <a:prstGeom prst="rect">
            <a:avLst/>
          </a:prstGeom>
          <a:noFill/>
          <a:ln/>
        </p:spPr>
        <p:txBody>
          <a:bodyPr wrap="square" rtlCol="0" anchor="ctr"/>
          <a:lstStyle/>
          <a:p>
            <a:pPr algn="ctr" indent="0" marL="0">
              <a:buNone/>
            </a:pPr>
            <a:r>
              <a:rPr lang="en-US" sz="1050" i="1" dirty="0">
                <a:solidFill>
                  <a:srgbClr val="425568"/>
                </a:solidFill>
                <a:latin typeface="Calibri" pitchFamily="34" charset="0"/>
                <a:ea typeface="Calibri" pitchFamily="34" charset="-122"/>
                <a:cs typeface="Calibri" pitchFamily="34" charset="-120"/>
              </a:rPr>
              <a:t>Latency stack — MediaPipe 22 ms · CNN only 2.8 ms (a bystander)</a:t>
            </a:r>
            <a:endParaRPr lang="en-US" sz="1050" dirty="0"/>
          </a:p>
        </p:txBody>
      </p:sp>
      <p:sp>
        <p:nvSpPr>
          <p:cNvPr id="25" name="Text 21"/>
          <p:cNvSpPr/>
          <p:nvPr/>
        </p:nvSpPr>
        <p:spPr>
          <a:xfrm>
            <a:off x="10972800" y="6446520"/>
            <a:ext cx="1005840" cy="274320"/>
          </a:xfrm>
          <a:prstGeom prst="rect">
            <a:avLst/>
          </a:prstGeom>
          <a:noFill/>
          <a:ln/>
        </p:spPr>
        <p:txBody>
          <a:bodyPr wrap="square" rtlCol="0" anchor="ctr"/>
          <a:lstStyle/>
          <a:p>
            <a:pPr algn="r" indent="0" marL="0">
              <a:buNone/>
            </a:pPr>
            <a:r>
              <a:rPr lang="en-US" sz="1000" dirty="0">
                <a:solidFill>
                  <a:srgbClr val="8FA3BF"/>
                </a:solidFill>
                <a:latin typeface="Calibri" pitchFamily="34" charset="0"/>
                <a:ea typeface="Calibri" pitchFamily="34" charset="-122"/>
                <a:cs typeface="Calibri" pitchFamily="34" charset="-120"/>
              </a:rPr>
              <a:t>7 / 9</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AFC"/>
        </a:solidFill>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065A82"/>
          </a:solidFill>
          <a:ln/>
        </p:spPr>
      </p:sp>
      <p:sp>
        <p:nvSpPr>
          <p:cNvPr id="3" name="Text 1"/>
          <p:cNvSpPr/>
          <p:nvPr/>
        </p:nvSpPr>
        <p:spPr>
          <a:xfrm>
            <a:off x="411480" y="274320"/>
            <a:ext cx="10972800" cy="365760"/>
          </a:xfrm>
          <a:prstGeom prst="rect">
            <a:avLst/>
          </a:prstGeom>
          <a:noFill/>
          <a:ln/>
        </p:spPr>
        <p:txBody>
          <a:bodyPr wrap="square" rtlCol="0" anchor="ctr"/>
          <a:lstStyle/>
          <a:p>
            <a:pPr indent="0" marL="0">
              <a:buNone/>
            </a:pPr>
            <a:r>
              <a:rPr lang="en-US" sz="1300" b="1" dirty="0">
                <a:solidFill>
                  <a:srgbClr val="065A82"/>
                </a:solidFill>
                <a:latin typeface="Calibri" pitchFamily="34" charset="0"/>
                <a:ea typeface="Calibri" pitchFamily="34" charset="-122"/>
                <a:cs typeface="Calibri" pitchFamily="34" charset="-120"/>
              </a:rPr>
              <a:t>07 · REFLECTION + NEXT</a:t>
            </a:r>
            <a:endParaRPr lang="en-US" sz="1300" dirty="0"/>
          </a:p>
        </p:txBody>
      </p:sp>
      <p:sp>
        <p:nvSpPr>
          <p:cNvPr id="4" name="Text 2"/>
          <p:cNvSpPr/>
          <p:nvPr/>
        </p:nvSpPr>
        <p:spPr>
          <a:xfrm>
            <a:off x="548640" y="777240"/>
            <a:ext cx="10972800" cy="594360"/>
          </a:xfrm>
          <a:prstGeom prst="rect">
            <a:avLst/>
          </a:prstGeom>
          <a:noFill/>
          <a:ln/>
        </p:spPr>
        <p:txBody>
          <a:bodyPr wrap="square" rtlCol="0" anchor="ctr"/>
          <a:lstStyle/>
          <a:p>
            <a:pPr indent="0" marL="0">
              <a:buNone/>
            </a:pPr>
            <a:r>
              <a:rPr lang="en-US" sz="2800" b="1" dirty="0">
                <a:solidFill>
                  <a:srgbClr val="21295C"/>
                </a:solidFill>
                <a:latin typeface="Georgia" pitchFamily="34" charset="0"/>
                <a:ea typeface="Georgia" pitchFamily="34" charset="-122"/>
                <a:cs typeface="Georgia" pitchFamily="34" charset="-120"/>
              </a:rPr>
              <a:t>What I would do differently</a:t>
            </a:r>
            <a:endParaRPr lang="en-US" sz="2800" dirty="0"/>
          </a:p>
        </p:txBody>
      </p:sp>
      <p:sp>
        <p:nvSpPr>
          <p:cNvPr id="5" name="Shape 3"/>
          <p:cNvSpPr/>
          <p:nvPr/>
        </p:nvSpPr>
        <p:spPr>
          <a:xfrm>
            <a:off x="548640" y="1554480"/>
            <a:ext cx="3593592" cy="3108960"/>
          </a:xfrm>
          <a:prstGeom prst="roundRect">
            <a:avLst>
              <a:gd name="adj" fmla="val 2941"/>
            </a:avLst>
          </a:prstGeom>
          <a:solidFill>
            <a:srgbClr val="F0F4F8"/>
          </a:solidFill>
          <a:ln w="12700">
            <a:solidFill>
              <a:srgbClr val="D9E1EA"/>
            </a:solidFill>
            <a:prstDash val="solid"/>
          </a:ln>
        </p:spPr>
      </p:sp>
      <p:sp>
        <p:nvSpPr>
          <p:cNvPr id="6" name="Text 4"/>
          <p:cNvSpPr/>
          <p:nvPr/>
        </p:nvSpPr>
        <p:spPr>
          <a:xfrm>
            <a:off x="731520" y="1691640"/>
            <a:ext cx="914400" cy="365760"/>
          </a:xfrm>
          <a:prstGeom prst="rect">
            <a:avLst/>
          </a:prstGeom>
          <a:noFill/>
          <a:ln/>
        </p:spPr>
        <p:txBody>
          <a:bodyPr wrap="square" rtlCol="0" anchor="ctr"/>
          <a:lstStyle/>
          <a:p>
            <a:pPr indent="0" marL="0">
              <a:buNone/>
            </a:pPr>
            <a:r>
              <a:rPr lang="en-US" sz="2200" b="1" dirty="0">
                <a:solidFill>
                  <a:srgbClr val="B85042"/>
                </a:solidFill>
                <a:latin typeface="Georgia" pitchFamily="34" charset="0"/>
                <a:ea typeface="Georgia" pitchFamily="34" charset="-122"/>
                <a:cs typeface="Georgia" pitchFamily="34" charset="-120"/>
              </a:rPr>
              <a:t>7.1</a:t>
            </a:r>
            <a:endParaRPr lang="en-US" sz="2200" dirty="0"/>
          </a:p>
        </p:txBody>
      </p:sp>
      <p:sp>
        <p:nvSpPr>
          <p:cNvPr id="7" name="Shape 5"/>
          <p:cNvSpPr/>
          <p:nvPr/>
        </p:nvSpPr>
        <p:spPr>
          <a:xfrm>
            <a:off x="1508760" y="1773936"/>
            <a:ext cx="1325880" cy="310896"/>
          </a:xfrm>
          <a:prstGeom prst="roundRect">
            <a:avLst>
              <a:gd name="adj" fmla="val 50000"/>
            </a:avLst>
          </a:prstGeom>
          <a:solidFill>
            <a:srgbClr val="B85042"/>
          </a:solidFill>
          <a:ln w="12700">
            <a:solidFill>
              <a:srgbClr val="B85042"/>
            </a:solidFill>
            <a:prstDash val="solid"/>
          </a:ln>
        </p:spPr>
      </p:sp>
      <p:sp>
        <p:nvSpPr>
          <p:cNvPr id="8" name="Text 6"/>
          <p:cNvSpPr/>
          <p:nvPr/>
        </p:nvSpPr>
        <p:spPr>
          <a:xfrm>
            <a:off x="1508760" y="1773936"/>
            <a:ext cx="1325880" cy="310896"/>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leakage</a:t>
            </a:r>
            <a:endParaRPr lang="en-US" sz="1000" dirty="0"/>
          </a:p>
        </p:txBody>
      </p:sp>
      <p:sp>
        <p:nvSpPr>
          <p:cNvPr id="9" name="Text 7"/>
          <p:cNvSpPr/>
          <p:nvPr/>
        </p:nvSpPr>
        <p:spPr>
          <a:xfrm>
            <a:off x="731520" y="2240280"/>
            <a:ext cx="3246120" cy="548640"/>
          </a:xfrm>
          <a:prstGeom prst="rect">
            <a:avLst/>
          </a:prstGeom>
          <a:noFill/>
          <a:ln/>
        </p:spPr>
        <p:txBody>
          <a:bodyPr wrap="square" rtlCol="0" anchor="ctr"/>
          <a:lstStyle/>
          <a:p>
            <a:pPr indent="0" marL="0">
              <a:buNone/>
            </a:pPr>
            <a:r>
              <a:rPr lang="en-US" sz="1500" b="1" dirty="0">
                <a:solidFill>
                  <a:srgbClr val="21295C"/>
                </a:solidFill>
                <a:latin typeface="Calibri" pitchFamily="34" charset="0"/>
                <a:ea typeface="Calibri" pitchFamily="34" charset="-122"/>
                <a:cs typeface="Calibri" pitchFamily="34" charset="-120"/>
              </a:rPr>
              <a:t>Split-optimistic accuracy</a:t>
            </a:r>
            <a:endParaRPr lang="en-US" sz="1500" dirty="0"/>
          </a:p>
        </p:txBody>
      </p:sp>
      <p:sp>
        <p:nvSpPr>
          <p:cNvPr id="10" name="Text 8"/>
          <p:cNvSpPr/>
          <p:nvPr/>
        </p:nvSpPr>
        <p:spPr>
          <a:xfrm>
            <a:off x="731520" y="2880360"/>
            <a:ext cx="3246120" cy="1691640"/>
          </a:xfrm>
          <a:prstGeom prst="rect">
            <a:avLst/>
          </a:prstGeom>
          <a:noFill/>
          <a:ln/>
        </p:spPr>
        <p:txBody>
          <a:bodyPr wrap="square" rtlCol="0" anchor="ctr"/>
          <a:lstStyle/>
          <a:p>
            <a:pPr indent="0" marL="0">
              <a:lnSpc>
                <a:spcPct val="130000"/>
              </a:lnSpc>
              <a:buNone/>
            </a:pPr>
            <a:r>
              <a:rPr lang="en-US" sz="1250" dirty="0">
                <a:solidFill>
                  <a:srgbClr val="425568"/>
                </a:solidFill>
                <a:latin typeface="Calibri" pitchFamily="34" charset="0"/>
                <a:ea typeface="Calibri" pitchFamily="34" charset="-122"/>
                <a:cs typeface="Calibri" pitchFamily="34" charset="-120"/>
              </a:rPr>
              <a:t>train_test_split is over windows, not actors. Cross-subject GroupShuffleSplit will likely drop accuracy.</a:t>
            </a:r>
            <a:endParaRPr lang="en-US" sz="1250" dirty="0"/>
          </a:p>
        </p:txBody>
      </p:sp>
      <p:sp>
        <p:nvSpPr>
          <p:cNvPr id="11" name="Shape 9"/>
          <p:cNvSpPr/>
          <p:nvPr/>
        </p:nvSpPr>
        <p:spPr>
          <a:xfrm>
            <a:off x="4370832" y="1554480"/>
            <a:ext cx="3593592" cy="3108960"/>
          </a:xfrm>
          <a:prstGeom prst="roundRect">
            <a:avLst>
              <a:gd name="adj" fmla="val 2941"/>
            </a:avLst>
          </a:prstGeom>
          <a:solidFill>
            <a:srgbClr val="F0F4F8"/>
          </a:solidFill>
          <a:ln w="12700">
            <a:solidFill>
              <a:srgbClr val="D9E1EA"/>
            </a:solidFill>
            <a:prstDash val="solid"/>
          </a:ln>
        </p:spPr>
      </p:sp>
      <p:sp>
        <p:nvSpPr>
          <p:cNvPr id="12" name="Text 10"/>
          <p:cNvSpPr/>
          <p:nvPr/>
        </p:nvSpPr>
        <p:spPr>
          <a:xfrm>
            <a:off x="4553712" y="1691640"/>
            <a:ext cx="914400" cy="365760"/>
          </a:xfrm>
          <a:prstGeom prst="rect">
            <a:avLst/>
          </a:prstGeom>
          <a:noFill/>
          <a:ln/>
        </p:spPr>
        <p:txBody>
          <a:bodyPr wrap="square" rtlCol="0" anchor="ctr"/>
          <a:lstStyle/>
          <a:p>
            <a:pPr indent="0" marL="0">
              <a:buNone/>
            </a:pPr>
            <a:r>
              <a:rPr lang="en-US" sz="2200" b="1" dirty="0">
                <a:solidFill>
                  <a:srgbClr val="6D2E46"/>
                </a:solidFill>
                <a:latin typeface="Georgia" pitchFamily="34" charset="0"/>
                <a:ea typeface="Georgia" pitchFamily="34" charset="-122"/>
                <a:cs typeface="Georgia" pitchFamily="34" charset="-120"/>
              </a:rPr>
              <a:t>7.2</a:t>
            </a:r>
            <a:endParaRPr lang="en-US" sz="2200" dirty="0"/>
          </a:p>
        </p:txBody>
      </p:sp>
      <p:sp>
        <p:nvSpPr>
          <p:cNvPr id="13" name="Shape 11"/>
          <p:cNvSpPr/>
          <p:nvPr/>
        </p:nvSpPr>
        <p:spPr>
          <a:xfrm>
            <a:off x="5330952" y="1773936"/>
            <a:ext cx="1325880" cy="310896"/>
          </a:xfrm>
          <a:prstGeom prst="roundRect">
            <a:avLst>
              <a:gd name="adj" fmla="val 50000"/>
            </a:avLst>
          </a:prstGeom>
          <a:solidFill>
            <a:srgbClr val="6D2E46"/>
          </a:solidFill>
          <a:ln w="12700">
            <a:solidFill>
              <a:srgbClr val="6D2E46"/>
            </a:solidFill>
            <a:prstDash val="solid"/>
          </a:ln>
        </p:spPr>
      </p:sp>
      <p:sp>
        <p:nvSpPr>
          <p:cNvPr id="14" name="Text 12"/>
          <p:cNvSpPr/>
          <p:nvPr/>
        </p:nvSpPr>
        <p:spPr>
          <a:xfrm>
            <a:off x="5330952" y="1773936"/>
            <a:ext cx="1325880" cy="310896"/>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reps</a:t>
            </a:r>
            <a:endParaRPr lang="en-US" sz="1000" dirty="0"/>
          </a:p>
        </p:txBody>
      </p:sp>
      <p:sp>
        <p:nvSpPr>
          <p:cNvPr id="15" name="Text 13"/>
          <p:cNvSpPr/>
          <p:nvPr/>
        </p:nvSpPr>
        <p:spPr>
          <a:xfrm>
            <a:off x="4553712" y="2240280"/>
            <a:ext cx="3246120" cy="548640"/>
          </a:xfrm>
          <a:prstGeom prst="rect">
            <a:avLst/>
          </a:prstGeom>
          <a:noFill/>
          <a:ln/>
        </p:spPr>
        <p:txBody>
          <a:bodyPr wrap="square" rtlCol="0" anchor="ctr"/>
          <a:lstStyle/>
          <a:p>
            <a:pPr indent="0" marL="0">
              <a:buNone/>
            </a:pPr>
            <a:r>
              <a:rPr lang="en-US" sz="1500" b="1" dirty="0">
                <a:solidFill>
                  <a:srgbClr val="21295C"/>
                </a:solidFill>
                <a:latin typeface="Calibri" pitchFamily="34" charset="0"/>
                <a:ea typeface="Calibri" pitchFamily="34" charset="-122"/>
                <a:cs typeface="Calibri" pitchFamily="34" charset="-120"/>
              </a:rPr>
              <a:t>ARKit ≠ affect</a:t>
            </a:r>
            <a:endParaRPr lang="en-US" sz="1500" dirty="0"/>
          </a:p>
        </p:txBody>
      </p:sp>
      <p:sp>
        <p:nvSpPr>
          <p:cNvPr id="16" name="Text 14"/>
          <p:cNvSpPr/>
          <p:nvPr/>
        </p:nvSpPr>
        <p:spPr>
          <a:xfrm>
            <a:off x="4553712" y="2880360"/>
            <a:ext cx="3246120" cy="1691640"/>
          </a:xfrm>
          <a:prstGeom prst="rect">
            <a:avLst/>
          </a:prstGeom>
          <a:noFill/>
          <a:ln/>
        </p:spPr>
        <p:txBody>
          <a:bodyPr wrap="square" rtlCol="0" anchor="ctr"/>
          <a:lstStyle/>
          <a:p>
            <a:pPr indent="0" marL="0">
              <a:lnSpc>
                <a:spcPct val="130000"/>
              </a:lnSpc>
              <a:buNone/>
            </a:pPr>
            <a:r>
              <a:rPr lang="en-US" sz="1250" dirty="0">
                <a:solidFill>
                  <a:srgbClr val="425568"/>
                </a:solidFill>
                <a:latin typeface="Calibri" pitchFamily="34" charset="0"/>
                <a:ea typeface="Calibri" pitchFamily="34" charset="-122"/>
                <a:cs typeface="Calibri" pitchFamily="34" charset="-120"/>
              </a:rPr>
              <a:t>52-d blendshapes were designed for visemes. No clenched-jaw channel — anger collapses into mouthFrown. FACS would be richer.</a:t>
            </a:r>
            <a:endParaRPr lang="en-US" sz="1250" dirty="0"/>
          </a:p>
        </p:txBody>
      </p:sp>
      <p:sp>
        <p:nvSpPr>
          <p:cNvPr id="17" name="Shape 15"/>
          <p:cNvSpPr/>
          <p:nvPr/>
        </p:nvSpPr>
        <p:spPr>
          <a:xfrm>
            <a:off x="8193024" y="1554480"/>
            <a:ext cx="3593592" cy="3108960"/>
          </a:xfrm>
          <a:prstGeom prst="roundRect">
            <a:avLst>
              <a:gd name="adj" fmla="val 2941"/>
            </a:avLst>
          </a:prstGeom>
          <a:solidFill>
            <a:srgbClr val="F0F4F8"/>
          </a:solidFill>
          <a:ln w="12700">
            <a:solidFill>
              <a:srgbClr val="D9E1EA"/>
            </a:solidFill>
            <a:prstDash val="solid"/>
          </a:ln>
        </p:spPr>
      </p:sp>
      <p:sp>
        <p:nvSpPr>
          <p:cNvPr id="18" name="Text 16"/>
          <p:cNvSpPr/>
          <p:nvPr/>
        </p:nvSpPr>
        <p:spPr>
          <a:xfrm>
            <a:off x="8375904" y="1691640"/>
            <a:ext cx="914400" cy="365760"/>
          </a:xfrm>
          <a:prstGeom prst="rect">
            <a:avLst/>
          </a:prstGeom>
          <a:noFill/>
          <a:ln/>
        </p:spPr>
        <p:txBody>
          <a:bodyPr wrap="square" rtlCol="0" anchor="ctr"/>
          <a:lstStyle/>
          <a:p>
            <a:pPr indent="0" marL="0">
              <a:buNone/>
            </a:pPr>
            <a:r>
              <a:rPr lang="en-US" sz="2200" b="1" dirty="0">
                <a:solidFill>
                  <a:srgbClr val="065A82"/>
                </a:solidFill>
                <a:latin typeface="Georgia" pitchFamily="34" charset="0"/>
                <a:ea typeface="Georgia" pitchFamily="34" charset="-122"/>
                <a:cs typeface="Georgia" pitchFamily="34" charset="-120"/>
              </a:rPr>
              <a:t>7.3</a:t>
            </a:r>
            <a:endParaRPr lang="en-US" sz="2200" dirty="0"/>
          </a:p>
        </p:txBody>
      </p:sp>
      <p:sp>
        <p:nvSpPr>
          <p:cNvPr id="19" name="Shape 17"/>
          <p:cNvSpPr/>
          <p:nvPr/>
        </p:nvSpPr>
        <p:spPr>
          <a:xfrm>
            <a:off x="9153144" y="1773936"/>
            <a:ext cx="1325880" cy="310896"/>
          </a:xfrm>
          <a:prstGeom prst="roundRect">
            <a:avLst>
              <a:gd name="adj" fmla="val 50000"/>
            </a:avLst>
          </a:prstGeom>
          <a:solidFill>
            <a:srgbClr val="065A82"/>
          </a:solidFill>
          <a:ln w="12700">
            <a:solidFill>
              <a:srgbClr val="065A82"/>
            </a:solidFill>
            <a:prstDash val="solid"/>
          </a:ln>
        </p:spPr>
      </p:sp>
      <p:sp>
        <p:nvSpPr>
          <p:cNvPr id="20" name="Text 18"/>
          <p:cNvSpPr/>
          <p:nvPr/>
        </p:nvSpPr>
        <p:spPr>
          <a:xfrm>
            <a:off x="9153144" y="1773936"/>
            <a:ext cx="1325880" cy="310896"/>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protocol</a:t>
            </a:r>
            <a:endParaRPr lang="en-US" sz="1000" dirty="0"/>
          </a:p>
        </p:txBody>
      </p:sp>
      <p:sp>
        <p:nvSpPr>
          <p:cNvPr id="21" name="Text 19"/>
          <p:cNvSpPr/>
          <p:nvPr/>
        </p:nvSpPr>
        <p:spPr>
          <a:xfrm>
            <a:off x="8375904" y="2240280"/>
            <a:ext cx="3246120" cy="548640"/>
          </a:xfrm>
          <a:prstGeom prst="rect">
            <a:avLst/>
          </a:prstGeom>
          <a:noFill/>
          <a:ln/>
        </p:spPr>
        <p:txBody>
          <a:bodyPr wrap="square" rtlCol="0" anchor="ctr"/>
          <a:lstStyle/>
          <a:p>
            <a:pPr indent="0" marL="0">
              <a:buNone/>
            </a:pPr>
            <a:r>
              <a:rPr lang="en-US" sz="1500" b="1" dirty="0">
                <a:solidFill>
                  <a:srgbClr val="21295C"/>
                </a:solidFill>
                <a:latin typeface="Calibri" pitchFamily="34" charset="0"/>
                <a:ea typeface="Calibri" pitchFamily="34" charset="-122"/>
                <a:cs typeface="Calibri" pitchFamily="34" charset="-120"/>
              </a:rPr>
              <a:t>233 B is not optimal</a:t>
            </a:r>
            <a:endParaRPr lang="en-US" sz="1500" dirty="0"/>
          </a:p>
        </p:txBody>
      </p:sp>
      <p:sp>
        <p:nvSpPr>
          <p:cNvPr id="22" name="Text 20"/>
          <p:cNvSpPr/>
          <p:nvPr/>
        </p:nvSpPr>
        <p:spPr>
          <a:xfrm>
            <a:off x="8375904" y="2880360"/>
            <a:ext cx="3246120" cy="1691640"/>
          </a:xfrm>
          <a:prstGeom prst="rect">
            <a:avLst/>
          </a:prstGeom>
          <a:noFill/>
          <a:ln/>
        </p:spPr>
        <p:txBody>
          <a:bodyPr wrap="square" rtlCol="0" anchor="ctr"/>
          <a:lstStyle/>
          <a:p>
            <a:pPr indent="0" marL="0">
              <a:lnSpc>
                <a:spcPct val="130000"/>
              </a:lnSpc>
              <a:buNone/>
            </a:pPr>
            <a:r>
              <a:rPr lang="en-US" sz="1250" dirty="0">
                <a:solidFill>
                  <a:srgbClr val="425568"/>
                </a:solidFill>
                <a:latin typeface="Calibri" pitchFamily="34" charset="0"/>
                <a:ea typeface="Calibri" pitchFamily="34" charset="-122"/>
                <a:cs typeface="Calibri" pitchFamily="34" charset="-120"/>
              </a:rPr>
              <a:t>Adjacent ARKit channels are correlated. PCA-16 + delta encoding ≈ 4× compression at the cost of a stored basis.</a:t>
            </a:r>
            <a:endParaRPr lang="en-US" sz="1250" dirty="0"/>
          </a:p>
        </p:txBody>
      </p:sp>
      <p:sp>
        <p:nvSpPr>
          <p:cNvPr id="23" name="Shape 21"/>
          <p:cNvSpPr/>
          <p:nvPr/>
        </p:nvSpPr>
        <p:spPr>
          <a:xfrm>
            <a:off x="548640" y="4983480"/>
            <a:ext cx="11109960" cy="1188720"/>
          </a:xfrm>
          <a:prstGeom prst="roundRect">
            <a:avLst>
              <a:gd name="adj" fmla="val 9231"/>
            </a:avLst>
          </a:prstGeom>
          <a:solidFill>
            <a:srgbClr val="21295C"/>
          </a:solidFill>
          <a:ln w="12700">
            <a:solidFill>
              <a:srgbClr val="21295C"/>
            </a:solidFill>
            <a:prstDash val="solid"/>
          </a:ln>
        </p:spPr>
      </p:sp>
      <p:sp>
        <p:nvSpPr>
          <p:cNvPr id="24" name="Text 22"/>
          <p:cNvSpPr/>
          <p:nvPr/>
        </p:nvSpPr>
        <p:spPr>
          <a:xfrm>
            <a:off x="777240" y="5074920"/>
            <a:ext cx="10881360" cy="320040"/>
          </a:xfrm>
          <a:prstGeom prst="rect">
            <a:avLst/>
          </a:prstGeom>
          <a:noFill/>
          <a:ln/>
        </p:spPr>
        <p:txBody>
          <a:bodyPr wrap="square" rtlCol="0" anchor="ctr"/>
          <a:lstStyle/>
          <a:p>
            <a:pPr indent="0" marL="0">
              <a:buNone/>
            </a:pPr>
            <a:r>
              <a:rPr lang="en-US" sz="1200" b="1" dirty="0">
                <a:solidFill>
                  <a:srgbClr val="00C2A8"/>
                </a:solidFill>
                <a:latin typeface="Calibri" pitchFamily="34" charset="0"/>
                <a:ea typeface="Calibri" pitchFamily="34" charset="-122"/>
                <a:cs typeface="Calibri" pitchFamily="34" charset="-120"/>
              </a:rPr>
              <a:t>Next, ranked by marginal benefit per engineering hour</a:t>
            </a:r>
            <a:endParaRPr lang="en-US" sz="1200" dirty="0"/>
          </a:p>
        </p:txBody>
      </p:sp>
      <p:sp>
        <p:nvSpPr>
          <p:cNvPr id="25" name="Text 23"/>
          <p:cNvSpPr/>
          <p:nvPr/>
        </p:nvSpPr>
        <p:spPr>
          <a:xfrm>
            <a:off x="777240" y="5440680"/>
            <a:ext cx="10881360" cy="640080"/>
          </a:xfrm>
          <a:prstGeom prst="rect">
            <a:avLst/>
          </a:prstGeom>
          <a:noFill/>
          <a:ln/>
        </p:spPr>
        <p:txBody>
          <a:bodyPr wrap="square" rtlCol="0" anchor="ctr"/>
          <a:lstStyle/>
          <a:p>
            <a:pPr indent="0" marL="0">
              <a:buNone/>
            </a:pPr>
            <a:r>
              <a:rPr lang="en-US" sz="1400" b="1" dirty="0">
                <a:solidFill>
                  <a:srgbClr val="00C2A8"/>
                </a:solidFill>
                <a:latin typeface="Calibri" pitchFamily="34" charset="0"/>
                <a:ea typeface="Calibri" pitchFamily="34" charset="-122"/>
                <a:cs typeface="Calibri" pitchFamily="34" charset="-120"/>
              </a:rPr>
              <a:t>①  </a:t>
            </a:r>
            <a:pPr indent="0" marL="0">
              <a:buNone/>
            </a:pPr>
            <a:r>
              <a:rPr lang="en-US" sz="1400" dirty="0">
                <a:solidFill>
                  <a:srgbClr val="FFFFFF"/>
                </a:solidFill>
                <a:latin typeface="Calibri" pitchFamily="34" charset="0"/>
                <a:ea typeface="Calibri" pitchFamily="34" charset="-122"/>
                <a:cs typeface="Calibri" pitchFamily="34" charset="-120"/>
              </a:rPr>
              <a:t>Cross-subject eval (GroupShuffleSplit)   </a:t>
            </a:r>
            <a:pPr indent="0" marL="0">
              <a:buNone/>
            </a:pPr>
            <a:r>
              <a:rPr lang="en-US" sz="1400" b="1" dirty="0">
                <a:solidFill>
                  <a:srgbClr val="00C2A8"/>
                </a:solidFill>
                <a:latin typeface="Calibri" pitchFamily="34" charset="0"/>
                <a:ea typeface="Calibri" pitchFamily="34" charset="-122"/>
                <a:cs typeface="Calibri" pitchFamily="34" charset="-120"/>
              </a:rPr>
              <a:t>②  </a:t>
            </a:r>
            <a:pPr indent="0" marL="0">
              <a:buNone/>
            </a:pPr>
            <a:r>
              <a:rPr lang="en-US" sz="1400" dirty="0">
                <a:solidFill>
                  <a:srgbClr val="FFFFFF"/>
                </a:solidFill>
                <a:latin typeface="Calibri" pitchFamily="34" charset="0"/>
                <a:ea typeface="Calibri" pitchFamily="34" charset="-122"/>
                <a:cs typeface="Calibri" pitchFamily="34" charset="-120"/>
              </a:rPr>
              <a:t>Replace GAP with attention-pool   </a:t>
            </a:r>
            <a:pPr indent="0" marL="0">
              <a:buNone/>
            </a:pPr>
            <a:r>
              <a:rPr lang="en-US" sz="1400" b="1" dirty="0">
                <a:solidFill>
                  <a:srgbClr val="00C2A8"/>
                </a:solidFill>
                <a:latin typeface="Calibri" pitchFamily="34" charset="0"/>
                <a:ea typeface="Calibri" pitchFamily="34" charset="-122"/>
                <a:cs typeface="Calibri" pitchFamily="34" charset="-120"/>
              </a:rPr>
              <a:t>③  </a:t>
            </a:r>
            <a:pPr indent="0" marL="0">
              <a:buNone/>
            </a:pPr>
            <a:r>
              <a:rPr lang="en-US" sz="1400" dirty="0">
                <a:solidFill>
                  <a:srgbClr val="FFFFFF"/>
                </a:solidFill>
                <a:latin typeface="Calibri" pitchFamily="34" charset="0"/>
                <a:ea typeface="Calibri" pitchFamily="34" charset="-122"/>
                <a:cs typeface="Calibri" pitchFamily="34" charset="-120"/>
              </a:rPr>
              <a:t>PCA-16 + delta packet encoding</a:t>
            </a:r>
            <a:endParaRPr lang="en-US" sz="1400" dirty="0"/>
          </a:p>
        </p:txBody>
      </p:sp>
      <p:sp>
        <p:nvSpPr>
          <p:cNvPr id="26" name="Text 24"/>
          <p:cNvSpPr/>
          <p:nvPr/>
        </p:nvSpPr>
        <p:spPr>
          <a:xfrm>
            <a:off x="10972800" y="6446520"/>
            <a:ext cx="1005840" cy="274320"/>
          </a:xfrm>
          <a:prstGeom prst="rect">
            <a:avLst/>
          </a:prstGeom>
          <a:noFill/>
          <a:ln/>
        </p:spPr>
        <p:txBody>
          <a:bodyPr wrap="square" rtlCol="0" anchor="ctr"/>
          <a:lstStyle/>
          <a:p>
            <a:pPr algn="r" indent="0" marL="0">
              <a:buNone/>
            </a:pPr>
            <a:r>
              <a:rPr lang="en-US" sz="1000" dirty="0">
                <a:solidFill>
                  <a:srgbClr val="8FA3BF"/>
                </a:solidFill>
                <a:latin typeface="Calibri" pitchFamily="34" charset="0"/>
                <a:ea typeface="Calibri" pitchFamily="34" charset="-122"/>
                <a:cs typeface="Calibri" pitchFamily="34" charset="-120"/>
              </a:rPr>
              <a:t>8 / 9</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E1A2B"/>
        </a:solidFill>
      </p:bgPr>
    </p:bg>
    <p:spTree>
      <p:nvGrpSpPr>
        <p:cNvPr id="1" name=""/>
        <p:cNvGrpSpPr/>
        <p:nvPr/>
      </p:nvGrpSpPr>
      <p:grpSpPr>
        <a:xfrm>
          <a:off x="0" y="0"/>
          <a:ext cx="0" cy="0"/>
          <a:chOff x="0" y="0"/>
          <a:chExt cx="0" cy="0"/>
        </a:xfrm>
      </p:grpSpPr>
      <p:sp>
        <p:nvSpPr>
          <p:cNvPr id="2" name="Shape 0"/>
          <p:cNvSpPr/>
          <p:nvPr/>
        </p:nvSpPr>
        <p:spPr>
          <a:xfrm>
            <a:off x="0" y="0"/>
            <a:ext cx="12191695" cy="731520"/>
          </a:xfrm>
          <a:prstGeom prst="rect">
            <a:avLst/>
          </a:prstGeom>
          <a:solidFill>
            <a:srgbClr val="065A82"/>
          </a:solidFill>
          <a:ln/>
        </p:spPr>
      </p:sp>
      <p:sp>
        <p:nvSpPr>
          <p:cNvPr id="3" name="Text 1"/>
          <p:cNvSpPr/>
          <p:nvPr/>
        </p:nvSpPr>
        <p:spPr>
          <a:xfrm>
            <a:off x="548640" y="182880"/>
            <a:ext cx="10972800" cy="411480"/>
          </a:xfrm>
          <a:prstGeom prst="rect">
            <a:avLst/>
          </a:prstGeom>
          <a:noFill/>
          <a:ln/>
        </p:spPr>
        <p:txBody>
          <a:bodyPr wrap="square"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CONCLUSION</a:t>
            </a:r>
            <a:endParaRPr lang="en-US" sz="1400" dirty="0"/>
          </a:p>
        </p:txBody>
      </p:sp>
      <p:sp>
        <p:nvSpPr>
          <p:cNvPr id="4" name="Text 2"/>
          <p:cNvSpPr/>
          <p:nvPr/>
        </p:nvSpPr>
        <p:spPr>
          <a:xfrm>
            <a:off x="548640" y="1280160"/>
            <a:ext cx="11155680" cy="1280160"/>
          </a:xfrm>
          <a:prstGeom prst="rect">
            <a:avLst/>
          </a:prstGeom>
          <a:noFill/>
          <a:ln/>
        </p:spPr>
        <p:txBody>
          <a:bodyPr wrap="square" rtlCol="0" anchor="ctr"/>
          <a:lstStyle/>
          <a:p>
            <a:pPr indent="0" marL="0">
              <a:lnSpc>
                <a:spcPct val="110000"/>
              </a:lnSpc>
              <a:buNone/>
            </a:pPr>
            <a:r>
              <a:rPr lang="en-US" sz="4400" b="1" dirty="0">
                <a:solidFill>
                  <a:srgbClr val="FFFFFF"/>
                </a:solidFill>
                <a:latin typeface="Georgia" pitchFamily="34" charset="0"/>
                <a:ea typeface="Georgia" pitchFamily="34" charset="-122"/>
                <a:cs typeface="Georgia" pitchFamily="34" charset="-120"/>
              </a:rPr>
              <a:t>A full DL pipeline running on your own edge device.</a:t>
            </a:r>
            <a:endParaRPr lang="en-US" sz="4400" dirty="0"/>
          </a:p>
        </p:txBody>
      </p:sp>
      <p:sp>
        <p:nvSpPr>
          <p:cNvPr id="5" name="Text 3"/>
          <p:cNvSpPr/>
          <p:nvPr/>
        </p:nvSpPr>
        <p:spPr>
          <a:xfrm>
            <a:off x="548640" y="2743200"/>
            <a:ext cx="11155680" cy="548640"/>
          </a:xfrm>
          <a:prstGeom prst="rect">
            <a:avLst/>
          </a:prstGeom>
          <a:noFill/>
          <a:ln/>
        </p:spPr>
        <p:txBody>
          <a:bodyPr wrap="square" rtlCol="0" anchor="ctr"/>
          <a:lstStyle/>
          <a:p>
            <a:pPr indent="0" marL="0">
              <a:buNone/>
            </a:pPr>
            <a:r>
              <a:rPr lang="en-US" sz="1800" b="1" dirty="0">
                <a:solidFill>
                  <a:srgbClr val="00C2A8"/>
                </a:solidFill>
                <a:latin typeface="Calibri" pitchFamily="34" charset="0"/>
                <a:ea typeface="Calibri" pitchFamily="34" charset="-122"/>
                <a:cs typeface="Calibri" pitchFamily="34" charset="-120"/>
              </a:rPr>
              <a:t>Camera senses </a:t>
            </a:r>
            <a:pPr indent="0" marL="0">
              <a:buNone/>
            </a:pPr>
            <a:r>
              <a:rPr lang="en-US" sz="1800" dirty="0">
                <a:solidFill>
                  <a:srgbClr val="8FA3BF"/>
                </a:solidFill>
                <a:latin typeface="Calibri" pitchFamily="34" charset="0"/>
                <a:ea typeface="Calibri" pitchFamily="34" charset="-122"/>
                <a:cs typeface="Calibri" pitchFamily="34" charset="-120"/>
              </a:rPr>
              <a:t>·  </a:t>
            </a:r>
            <a:pPr indent="0" marL="0">
              <a:buNone/>
            </a:pPr>
            <a:r>
              <a:rPr lang="en-US" sz="1800" b="1" dirty="0">
                <a:solidFill>
                  <a:srgbClr val="00C2A8"/>
                </a:solidFill>
                <a:latin typeface="Calibri" pitchFamily="34" charset="0"/>
                <a:ea typeface="Calibri" pitchFamily="34" charset="-122"/>
                <a:cs typeface="Calibri" pitchFamily="34" charset="-120"/>
              </a:rPr>
              <a:t>a TensorFlow model embedded in the page infers </a:t>
            </a:r>
            <a:pPr indent="0" marL="0">
              <a:buNone/>
            </a:pPr>
            <a:r>
              <a:rPr lang="en-US" sz="1800" dirty="0">
                <a:solidFill>
                  <a:srgbClr val="8FA3BF"/>
                </a:solidFill>
                <a:latin typeface="Calibri" pitchFamily="34" charset="0"/>
                <a:ea typeface="Calibri" pitchFamily="34" charset="-122"/>
                <a:cs typeface="Calibri" pitchFamily="34" charset="-120"/>
              </a:rPr>
              <a:t>·  </a:t>
            </a:r>
            <a:pPr indent="0" marL="0">
              <a:buNone/>
            </a:pPr>
            <a:r>
              <a:rPr lang="en-US" sz="1800" b="1" dirty="0">
                <a:solidFill>
                  <a:srgbClr val="00C2A8"/>
                </a:solidFill>
                <a:latin typeface="Calibri" pitchFamily="34" charset="0"/>
                <a:ea typeface="Calibri" pitchFamily="34" charset="-122"/>
                <a:cs typeface="Calibri" pitchFamily="34" charset="-120"/>
              </a:rPr>
              <a:t>the local avatar acts.</a:t>
            </a:r>
            <a:endParaRPr lang="en-US" sz="1800" dirty="0"/>
          </a:p>
        </p:txBody>
      </p:sp>
      <p:sp>
        <p:nvSpPr>
          <p:cNvPr id="6" name="Text 4"/>
          <p:cNvSpPr/>
          <p:nvPr/>
        </p:nvSpPr>
        <p:spPr>
          <a:xfrm>
            <a:off x="548640" y="3383280"/>
            <a:ext cx="11155680" cy="1097280"/>
          </a:xfrm>
          <a:prstGeom prst="rect">
            <a:avLst/>
          </a:prstGeom>
          <a:noFill/>
          <a:ln/>
        </p:spPr>
        <p:txBody>
          <a:bodyPr wrap="square" rtlCol="0" anchor="ctr"/>
          <a:lstStyle/>
          <a:p>
            <a:pPr indent="0" marL="0">
              <a:lnSpc>
                <a:spcPct val="130000"/>
              </a:lnSpc>
              <a:buNone/>
            </a:pPr>
            <a:r>
              <a:rPr lang="en-US" sz="1600" i="1" dirty="0">
                <a:solidFill>
                  <a:srgbClr val="CADCFC"/>
                </a:solidFill>
                <a:latin typeface="Calibri" pitchFamily="34" charset="0"/>
                <a:ea typeface="Calibri" pitchFamily="34" charset="-122"/>
                <a:cs typeface="Calibri" pitchFamily="34" charset="-120"/>
              </a:rPr>
              <a:t>Replacing a cloud video stream for a real social use case — three orders of magnitude less data — and never letting a face frame leave the device.</a:t>
            </a:r>
            <a:endParaRPr lang="en-US" sz="1600" dirty="0"/>
          </a:p>
        </p:txBody>
      </p:sp>
      <p:sp>
        <p:nvSpPr>
          <p:cNvPr id="7" name="Shape 5"/>
          <p:cNvSpPr/>
          <p:nvPr/>
        </p:nvSpPr>
        <p:spPr>
          <a:xfrm>
            <a:off x="0" y="5486400"/>
            <a:ext cx="12191695" cy="1371600"/>
          </a:xfrm>
          <a:prstGeom prst="rect">
            <a:avLst/>
          </a:prstGeom>
          <a:solidFill>
            <a:srgbClr val="0A1828"/>
          </a:solidFill>
          <a:ln/>
        </p:spPr>
      </p:sp>
      <p:sp>
        <p:nvSpPr>
          <p:cNvPr id="8" name="Text 6"/>
          <p:cNvSpPr/>
          <p:nvPr/>
        </p:nvSpPr>
        <p:spPr>
          <a:xfrm>
            <a:off x="548640" y="5623560"/>
            <a:ext cx="5486400" cy="548640"/>
          </a:xfrm>
          <a:prstGeom prst="rect">
            <a:avLst/>
          </a:prstGeom>
          <a:noFill/>
          <a:ln/>
        </p:spPr>
        <p:txBody>
          <a:bodyPr wrap="square" rtlCol="0" anchor="ctr"/>
          <a:lstStyle/>
          <a:p>
            <a:pPr indent="0" marL="0">
              <a:buNone/>
            </a:pPr>
            <a:r>
              <a:rPr lang="en-US" sz="2600" b="1" dirty="0">
                <a:solidFill>
                  <a:srgbClr val="FFFFFF"/>
                </a:solidFill>
                <a:latin typeface="Georgia" pitchFamily="34" charset="0"/>
                <a:ea typeface="Georgia" pitchFamily="34" charset="-122"/>
                <a:cs typeface="Georgia" pitchFamily="34" charset="-120"/>
              </a:rPr>
              <a:t>Thank you</a:t>
            </a:r>
            <a:endParaRPr lang="en-US" sz="2600" dirty="0"/>
          </a:p>
        </p:txBody>
      </p:sp>
      <p:sp>
        <p:nvSpPr>
          <p:cNvPr id="9" name="Text 7"/>
          <p:cNvSpPr/>
          <p:nvPr/>
        </p:nvSpPr>
        <p:spPr>
          <a:xfrm>
            <a:off x="548640" y="6172200"/>
            <a:ext cx="8686800" cy="365760"/>
          </a:xfrm>
          <a:prstGeom prst="rect">
            <a:avLst/>
          </a:prstGeom>
          <a:noFill/>
          <a:ln/>
        </p:spPr>
        <p:txBody>
          <a:bodyPr wrap="square" rtlCol="0" anchor="ctr"/>
          <a:lstStyle/>
          <a:p>
            <a:pPr indent="0" marL="0">
              <a:buNone/>
            </a:pPr>
            <a:r>
              <a:rPr lang="en-US" sz="1300" dirty="0">
                <a:solidFill>
                  <a:srgbClr val="CADCFC"/>
                </a:solidFill>
                <a:latin typeface="Calibri" pitchFamily="34" charset="0"/>
                <a:ea typeface="Calibri" pitchFamily="34" charset="-122"/>
                <a:cs typeface="Calibri" pitchFamily="34" charset="-120"/>
              </a:rPr>
              <a:t>github.com/gydgzh/Yidan-casa0018  </a:t>
            </a:r>
            <a:pPr indent="0" marL="0">
              <a:buNone/>
            </a:pPr>
            <a:r>
              <a:rPr lang="en-US" sz="1300" dirty="0">
                <a:solidFill>
                  <a:srgbClr val="8FA3BF"/>
                </a:solidFill>
                <a:latin typeface="Calibri" pitchFamily="34" charset="0"/>
                <a:ea typeface="Calibri" pitchFamily="34" charset="-122"/>
                <a:cs typeface="Calibri" pitchFamily="34" charset="-120"/>
              </a:rPr>
              <a:t>   ·   </a:t>
            </a:r>
            <a:pPr indent="0" marL="0">
              <a:buNone/>
            </a:pPr>
            <a:r>
              <a:rPr lang="en-US" sz="1300" dirty="0">
                <a:solidFill>
                  <a:srgbClr val="8FA3BF"/>
                </a:solidFill>
                <a:latin typeface="Calibri" pitchFamily="34" charset="0"/>
                <a:ea typeface="Calibri" pitchFamily="34" charset="-122"/>
                <a:cs typeface="Calibri" pitchFamily="34" charset="-120"/>
              </a:rPr>
              <a:t>build  v4.3-localfix</a:t>
            </a:r>
            <a:endParaRPr lang="en-US" sz="1300" dirty="0"/>
          </a:p>
        </p:txBody>
      </p:sp>
      <p:sp>
        <p:nvSpPr>
          <p:cNvPr id="10" name="Text 8"/>
          <p:cNvSpPr/>
          <p:nvPr/>
        </p:nvSpPr>
        <p:spPr>
          <a:xfrm>
            <a:off x="8229600" y="5852160"/>
            <a:ext cx="3657600" cy="365760"/>
          </a:xfrm>
          <a:prstGeom prst="rect">
            <a:avLst/>
          </a:prstGeom>
          <a:noFill/>
          <a:ln/>
        </p:spPr>
        <p:txBody>
          <a:bodyPr wrap="square" rtlCol="0" anchor="ctr"/>
          <a:lstStyle/>
          <a:p>
            <a:pPr algn="r" indent="0" marL="0">
              <a:buNone/>
            </a:pPr>
            <a:r>
              <a:rPr lang="en-US" sz="1200" dirty="0">
                <a:solidFill>
                  <a:srgbClr val="8FA3BF"/>
                </a:solidFill>
                <a:latin typeface="Calibri" pitchFamily="34" charset="0"/>
                <a:ea typeface="Calibri" pitchFamily="34" charset="-122"/>
                <a:cs typeface="Calibri" pitchFamily="34" charset="-120"/>
              </a:rPr>
              <a:t>Yidan Gao  ·  CASA0018  ·  2025/26</a:t>
            </a:r>
            <a:endParaRPr lang="en-US" sz="1200" dirty="0"/>
          </a:p>
        </p:txBody>
      </p:sp>
      <p:sp>
        <p:nvSpPr>
          <p:cNvPr id="11" name="Text 9"/>
          <p:cNvSpPr/>
          <p:nvPr/>
        </p:nvSpPr>
        <p:spPr>
          <a:xfrm>
            <a:off x="10698480" y="6446520"/>
            <a:ext cx="1371600" cy="274320"/>
          </a:xfrm>
          <a:prstGeom prst="rect">
            <a:avLst/>
          </a:prstGeom>
          <a:noFill/>
          <a:ln/>
        </p:spPr>
        <p:txBody>
          <a:bodyPr wrap="square" rtlCol="0" anchor="ctr"/>
          <a:lstStyle/>
          <a:p>
            <a:pPr algn="r" indent="0" marL="0">
              <a:buNone/>
            </a:pPr>
            <a:r>
              <a:rPr lang="en-US" sz="1000" dirty="0">
                <a:solidFill>
                  <a:srgbClr val="8FA3BF"/>
                </a:solidFill>
                <a:latin typeface="Calibri" pitchFamily="34" charset="0"/>
                <a:ea typeface="Calibri" pitchFamily="34" charset="-122"/>
                <a:cs typeface="Calibri" pitchFamily="34" charset="-120"/>
              </a:rPr>
              <a:t>9 / 9</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9</Slides>
  <Notes>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vt:i4>
      </vt:variant>
    </vt:vector>
  </HeadingPairs>
  <TitlesOfParts>
    <vt:vector size="1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Veil — CASA0018 Final</dc:title>
  <dc:subject>PptxGenJS Presentation</dc:subject>
  <dc:creator>Yidan Gao</dc:creator>
  <cp:lastModifiedBy>Yidan Gao</cp:lastModifiedBy>
  <cp:revision>1</cp:revision>
  <dcterms:created xsi:type="dcterms:W3CDTF">2026-05-06T09:19:47Z</dcterms:created>
  <dcterms:modified xsi:type="dcterms:W3CDTF">2026-05-06T09:19:47Z</dcterms:modified>
</cp:coreProperties>
</file>